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0ded97-7421-fa30-1c69-3a6b9093010a}">
          <p14:sldIdLst>
            <p14:sldId id="256"/>
          </p14:sldIdLst>
        </p14:section>
        <p14:section name="Background" id="{8313e3d2-cb3f-0b1c-7f4f-03d01df99962}">
          <p14:sldIdLst>
            <p14:sldId id="257"/>
            <p14:sldId id="258"/>
          </p14:sldIdLst>
        </p14:section>
        <p14:section name="Data and Method" id="{221c77db-b81f-f324-3530-758ada9415f2}">
          <p14:sldIdLst>
            <p14:sldId id="259"/>
            <p14:sldId id="260"/>
            <p14:sldId id="261"/>
            <p14:sldId id="262"/>
            <p14:sldId id="263"/>
          </p14:sldIdLst>
        </p14:section>
        <p14:section name="Results" id="{24e6dd71-4bb6-a389-cf8c-fbb6278d8378}">
          <p14:sldIdLst>
            <p14:sldId id="264"/>
            <p14:sldId id="265"/>
          </p14:sldIdLst>
        </p14:section>
        <p14:section name="Closing" id="{83c7838b-1473-c003-4852-e4cec8856145}">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mn-lt"/>
              </a:defRPr>
            </a:pPr>
            <a:r>
              <a:rPr sz="1300" b="0" i="0" u="none" strike="noStrike">
                <a:solidFill>
                  <a:srgbClr val="0B2545"/>
                </a:solidFill>
                <a:latin typeface="+mn-lt"/>
              </a:rPr>
              <a:t>Test-set error by model (kW)</a:t>
            </a:r>
          </a:p>
        </c:rich>
      </c:tx>
      <c:layout/>
      <c:overlay val="0"/>
    </c:title>
    <c:autoTitleDeleted val="0"/>
    <c:plotArea>
      <c:layout/>
      <c:barChart>
        <c:barDir val="col"/>
        <c:grouping val="clustered"/>
        <c:varyColors val="0"/>
        <c:ser>
          <c:idx val="0"/>
          <c:order val="0"/>
          <c:tx>
            <c:strRef>
              <c:f>Sheet1!$B$1</c:f>
              <c:strCache>
                <c:ptCount val="1"/>
                <c:pt idx="0">
                  <c:v>MAE (kW)</c:v>
                </c:pt>
              </c:strCache>
            </c:strRef>
          </c:tx>
          <c:spPr>
            <a:solidFill>
              <a:srgbClr val="1E8E5A"/>
            </a:solidFill>
            <a:effectLst/>
          </c:spPr>
          <c:invertIfNegative val="0"/>
          <c:dLbls>
            <c:numFmt formatCode="0.0" sourceLinked="0"/>
            <c:txPr>
              <a:bodyPr/>
              <a:lstStyle/>
              <a:p>
                <a:pPr>
                  <a:defRPr b="0" i="0" strike="noStrike" sz="900" u="none">
                    <a:solidFill>
                      <a:srgbClr val="0B2545"/>
                    </a:solidFill>
                    <a:latin typeface="+mn-lt"/>
                  </a:defRPr>
                </a:pPr>
              </a:p>
            </c:txPr>
            <c:showLegendKey val="0"/>
            <c:showVal val="1"/>
            <c:showCatName val="0"/>
            <c:showSerName val="0"/>
            <c:showPercent val="0"/>
            <c:showBubbleSize val="0"/>
            <c:showLeaderLines val="0"/>
          </c:dLbls>
          <c:cat>
            <c:multiLvlStrRef>
              <c:f>Sheet1!$A$2:$A$4</c:f>
              <c:multiLvlStrCache>
                <c:ptCount val="3"/>
                <c:lvl>
                  <c:pt idx="0">
                    <c:v>Gradient Boosting</c:v>
                  </c:pt>
                  <c:pt idx="1">
                    <c:v>Random Forest</c:v>
                  </c:pt>
                  <c:pt idx="2">
                    <c:v>Linear Regression</c:v>
                  </c:pt>
                </c:lvl>
              </c:multiLvlStrCache>
            </c:multiLvlStrRef>
          </c:cat>
          <c:val>
            <c:numRef>
              <c:f>Sheet1!$B$2:$B$4</c:f>
              <c:numCache>
                <c:formatCode>General</c:formatCode>
                <c:ptCount val="3"/>
                <c:pt idx="0">
                  <c:v>244.8238</c:v>
                </c:pt>
                <c:pt idx="1">
                  <c:v>238.9281</c:v>
                </c:pt>
                <c:pt idx="2">
                  <c:v>502.6576</c:v>
                </c:pt>
              </c:numCache>
            </c:numRef>
          </c:val>
        </c:ser>
        <c:ser>
          <c:idx val="1"/>
          <c:order val="1"/>
          <c:tx>
            <c:strRef>
              <c:f>Sheet1!$C$1</c:f>
              <c:strCache>
                <c:ptCount val="1"/>
                <c:pt idx="0">
                  <c:v>RMSE (kW)</c:v>
                </c:pt>
              </c:strCache>
            </c:strRef>
          </c:tx>
          <c:spPr>
            <a:solidFill>
              <a:srgbClr val="13315C"/>
            </a:solidFill>
            <a:effectLst/>
          </c:spPr>
          <c:invertIfNegative val="0"/>
          <c:dLbls>
            <c:numFmt formatCode="0.0" sourceLinked="0"/>
            <c:txPr>
              <a:bodyPr/>
              <a:lstStyle/>
              <a:p>
                <a:pPr>
                  <a:defRPr b="0" i="0" strike="noStrike" sz="900" u="none">
                    <a:solidFill>
                      <a:srgbClr val="0B2545"/>
                    </a:solidFill>
                    <a:latin typeface="+mn-lt"/>
                  </a:defRPr>
                </a:pPr>
              </a:p>
            </c:txPr>
            <c:showLegendKey val="0"/>
            <c:showVal val="1"/>
            <c:showCatName val="0"/>
            <c:showSerName val="0"/>
            <c:showPercent val="0"/>
            <c:showBubbleSize val="0"/>
            <c:showLeaderLines val="0"/>
          </c:dLbls>
          <c:cat>
            <c:multiLvlStrRef>
              <c:f>Sheet1!$A$2:$A$4</c:f>
              <c:multiLvlStrCache>
                <c:ptCount val="3"/>
                <c:lvl>
                  <c:pt idx="0">
                    <c:v>Gradient Boosting</c:v>
                  </c:pt>
                  <c:pt idx="1">
                    <c:v>Random Forest</c:v>
                  </c:pt>
                  <c:pt idx="2">
                    <c:v>Linear Regression</c:v>
                  </c:pt>
                </c:lvl>
              </c:multiLvlStrCache>
            </c:multiLvlStrRef>
          </c:cat>
          <c:val>
            <c:numRef>
              <c:f>Sheet1!$C$2:$C$4</c:f>
              <c:numCache>
                <c:formatCode>General</c:formatCode>
                <c:ptCount val="3"/>
                <c:pt idx="0">
                  <c:v>480.0973</c:v>
                </c:pt>
                <c:pt idx="1">
                  <c:v>490.4442</c:v>
                </c:pt>
                <c:pt idx="2">
                  <c:v>806.301</c:v>
                </c:pt>
              </c:numCache>
            </c:numRef>
          </c:val>
        </c:ser>
        <c:dLbls>
          <c:numFmt formatCode="0.0" sourceLinked="0"/>
          <c:txPr>
            <a:bodyPr/>
            <a:lstStyle/>
            <a:p>
              <a:pPr>
                <a:defRPr b="0" i="0" strike="noStrike" sz="900" u="none">
                  <a:solidFill>
                    <a:srgbClr val="0B254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254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D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B254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B254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'Solar Power Generation Prediction Using Machine Learning with Weather-Based Feature Analysis'. I used real data from one solar plant in India to test how well weather and time information can estimate the plant's AC power output. I will walk through the data, the method following the KDD workflow, the results, and the limitations. (Introduce yourself with your name, roll number, department and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energy is an important renewable source, but a plant's output is not constant because it depends on weather conditions such as sunlight and temperature. Predictive analytics lets us learn that relationship from past data. This leads to the guiding question of the project: how accurately can weather and time features estimate the plant's AC power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the total AC power of the plant in kilowatts at each timestamp. The reason is to understand how weather and time of day drive generation. Importantly, this is same-timestamp estimation using measured weather, not forecasting the future. My four objectives are on the right: build a clean dataset, compare three models, evaluate them fairly using a chronological split, and interpret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public Kaggle dataset 'Indian Solar Power Generation Data'. I used Plant 1 only, with two files: inverter-level generation data with 68,778 rows, and weather sensor data with 3,182 rows. Readings are every 15 minutes from 15 May to 17 June 2020, about 34 days. The green chip is my target, AC_POWER; light-green chips are the inputs or the source of time features; grey columns are not used as inputs. The exploration plot on the right already shows that AC power rises almost linearly with irradiation.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checked data quality: there were no missing values and no duplicate rows in either file. Then I parsed the timestamps into datetime format. The generation file has one row per inverter per timestamp, so I summed AC power across inverters to get plant-level output, giving 3,158 timestamps; weather readings were averaged per timestamp. Finally I merged the two tables with an inner join on plant and timestamp, which left 3,157 rows for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follows the Knowledge Discovery in Databases, or KDD, workflow. Stages one to four prepare the data: selection, understanding, pre-processing and transformation. Stages five and six are modelling and evaluation. Stage seven, interpretation, turns the results into knowledge about which weather factors matter. The notebook is organised in exactly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AC_POWER. The six inputs are three weather measurements — irradiation, ambient temperature and module temperature — plus three time features extracted from the timestamp: hour, minute and day of week. To prevent leakage, I excluded other generation readings such as DC_POWER, DAILY_YIELD and TOTAL_YIELD, because they are too closely tied to the output itself. I compared three regression algorithms in scikit-learn pipelines: Linear Regression as a simple baseline, and Random Forest and Gradient Boosting as tree-based ensembles. The settings are shown on the cards, and random state 42 keeps results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data is a time series, I did not shuffle it. The first 80 percent of the timeline — 2,525 rows from 15 May to 11 June — is used for training, and the final 20 percent — 632 rows from 11 to 17 June — is held out for testing. The models are scored with three metrics. MAE is the average absolute error in kilowatts. RMSE squares the errors first, so it penalises large mistakes more. R-squared is the share of variance in AC power that the model explains. The best model is selected by lowest test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actual test-set results from the notebook. Gradient Boosting is the best model by test RMSE: 480.0973 kW, with MAE 244.8238 kW and R-squared 0.9964. Random Forest is very close, with RMSE 490.4442 and R-squared 0.9962, and it actually has the slightly lower MAE of 238.9281. Linear Regression has roughly double the MAE and a clearly higher RMSE of 806.3010, but its R-squared of 0.9898 shows that even a linear model captures most of the relationship. The chart on the right makes the gap between the tree ensembles and the linear baseline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plots are all from the notebook, for the best model, Gradient Boosting. Top left: predicted values lie very close to the diagonal line, so the model tracks actual output well. Top right: residuals, meaning actual minus predicted, are concentrated around zero, but the errors get larger when the plant is producing more power. Bottom left: feature importance is overwhelmingly dominated by irradiation at 0.9985; hour, module temperature and ambient temperature contribute very little. Remember that feature importance tells us what the model finds useful for prediction, not what causes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Gradient Boosting performed best by test RMSE, with 480.0973 kW and an R-squared of 0.9964, and both tree-based models clearly beat Linear Regression. Irradiation is by far the most useful input. However, there are limitations. The data covers only about 34 days, from a single plant, so results may not generalise to other seasons or sites. The task is same-timestamp estimation using measured weather — it is not forecasting the future. And feature importance describes predictive usefulness, not causation. Natural next steps are longer, multi-plant data and true forecasting using weather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used: the Kaggle dataset, the original KDD paper, the scikit-learn library paper, the original papers for Random Forest and Gradient Boosting, and a review of photovoltaic power forecasting. Thank you for listening — I would be happy to take any questions. (Likely questions: why a chronological split instead of a random split; why DC_POWER was excluded; whether the model can forecast tomorrow's output — it cannot, because it uses measured same-timestamp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914400"/>
            <a:ext cx="5669280" cy="21945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457200" y="4800600"/>
            <a:ext cx="7315200" cy="228600"/>
          </a:xfrm>
          <a:prstGeom prst="rect">
            <a:avLst/>
          </a:prstGeom>
          <a:noFill/>
          <a:ln/>
        </p:spPr>
        <p:txBody>
          <a:bodyPr wrap="square" lIns="0" tIns="0" rIns="0" bIns="0" rtlCol="0" anchor="ctr"/>
          <a:lstStyle/>
          <a:p>
            <a:pPr indent="0" marL="0">
              <a:buNone/>
            </a:pPr>
            <a:r>
              <a:rPr lang="en-US" sz="1000" dirty="0">
                <a:solidFill>
                  <a:schemeClr val="accent6"/>
                </a:solidFill>
              </a:rPr>
              <a:t>Solar Power Generation Prediction Using Machine Learning with Weather-Based Feature Analysis</a:t>
            </a:r>
            <a:endParaRPr lang="en-US" sz="1000" dirty="0"/>
          </a:p>
        </p:txBody>
      </p:sp>
      <p:sp>
        <p:nvSpPr>
          <p:cNvPr id="3" name="Text 1"/>
          <p:cNvSpPr/>
          <p:nvPr>
            <p:ph idx="101" type="title" hasCustomPrompt="1"/>
          </p:nvPr>
        </p:nvSpPr>
        <p:spPr>
          <a:xfrm>
            <a:off x="457200" y="274320"/>
            <a:ext cx="749808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7498080"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b="1" spc="300" kern="0" dirty="0">
                <a:solidFill>
                  <a:schemeClr val="accent3"/>
                </a:solidFill>
              </a:rPr>
              <a:t>INDIVIDUAL PROJECT PRESENTATION</a:t>
            </a:r>
            <a:endParaRPr lang="en-US" sz="1200" dirty="0"/>
          </a:p>
        </p:txBody>
      </p:sp>
      <p:sp>
        <p:nvSpPr>
          <p:cNvPr id="3" name="Text 1"/>
          <p:cNvSpPr/>
          <p:nvPr>
            <p:ph idx="101" type="title" hasCustomPrompt="1"/>
          </p:nvPr>
        </p:nvSpPr>
        <p:spPr>
          <a:xfrm>
            <a:off x="548640" y="914400"/>
            <a:ext cx="5669280" cy="2194560"/>
          </a:xfrm>
          <a:prstGeom prst="rect">
            <a:avLst/>
          </a:prstGeom>
          <a:noFill/>
          <a:ln/>
        </p:spPr>
        <p:txBody>
          <a:bodyPr wrap="square" lIns="0" tIns="0" rIns="0" bIns="0" rtlCol="0" anchor="t"/>
          <a:lstStyle/>
          <a:p>
            <a:pPr algn="l" indent="0" marL="0">
              <a:buNone/>
            </a:pPr>
            <a:r>
              <a:rPr lang="en-US" sz="3000" b="1" dirty="0">
                <a:solidFill>
                  <a:schemeClr val="bg1"/>
                </a:solidFill>
              </a:rPr>
              <a:t>Solar Power Generation Prediction Using Machine Learning with Weather-Based Feature Analysis</a:t>
            </a:r>
            <a:endParaRPr lang="en-US" sz="3000" dirty="0"/>
          </a:p>
        </p:txBody>
      </p:sp>
      <p:sp>
        <p:nvSpPr>
          <p:cNvPr id="4" name="Text 2"/>
          <p:cNvSpPr txBox="1"/>
          <p:nvPr/>
        </p:nvSpPr>
        <p:spPr>
          <a:xfrm>
            <a:off x="548640" y="3337560"/>
            <a:ext cx="5669280" cy="320040"/>
          </a:xfrm>
          <a:prstGeom prst="rect">
            <a:avLst/>
          </a:prstGeom>
          <a:noFill/>
          <a:ln/>
        </p:spPr>
        <p:txBody>
          <a:bodyPr wrap="square" lIns="0" tIns="0" rIns="0" bIns="0" rtlCol="0" anchor="t"/>
          <a:lstStyle/>
          <a:p>
            <a:pPr indent="0" marL="0">
              <a:buNone/>
            </a:pPr>
            <a:r>
              <a:rPr lang="en-US" sz="1600" b="1" dirty="0">
                <a:solidFill>
                  <a:schemeClr val="bg1"/>
                </a:solidFill>
              </a:rPr>
              <a:t>[Student Name]   |   Roll No. [Roll Number]</a:t>
            </a:r>
            <a:endParaRPr lang="en-US" sz="1600" dirty="0"/>
          </a:p>
        </p:txBody>
      </p:sp>
      <p:sp>
        <p:nvSpPr>
          <p:cNvPr id="5" name="Text 3"/>
          <p:cNvSpPr txBox="1"/>
          <p:nvPr/>
        </p:nvSpPr>
        <p:spPr>
          <a:xfrm>
            <a:off x="548640" y="3703320"/>
            <a:ext cx="5669280" cy="274320"/>
          </a:xfrm>
          <a:prstGeom prst="rect">
            <a:avLst/>
          </a:prstGeom>
          <a:noFill/>
          <a:ln/>
        </p:spPr>
        <p:txBody>
          <a:bodyPr wrap="square" lIns="0" tIns="0" rIns="0" bIns="0" rtlCol="0" anchor="t"/>
          <a:lstStyle/>
          <a:p>
            <a:pPr indent="0" marL="0">
              <a:buNone/>
            </a:pPr>
            <a:r>
              <a:rPr lang="en-US" sz="1400" dirty="0">
                <a:solidFill>
                  <a:schemeClr val="accent3"/>
                </a:solidFill>
              </a:rPr>
              <a:t>[Department]  ·  [Institution]</a:t>
            </a:r>
            <a:endParaRPr lang="en-US" sz="1400" dirty="0"/>
          </a:p>
        </p:txBody>
      </p:sp>
      <p:sp>
        <p:nvSpPr>
          <p:cNvPr id="6" name="Text 4"/>
          <p:cNvSpPr txBox="1"/>
          <p:nvPr/>
        </p:nvSpPr>
        <p:spPr>
          <a:xfrm>
            <a:off x="548640" y="4023360"/>
            <a:ext cx="5669280" cy="274320"/>
          </a:xfrm>
          <a:prstGeom prst="rect">
            <a:avLst/>
          </a:prstGeom>
          <a:noFill/>
          <a:ln/>
        </p:spPr>
        <p:txBody>
          <a:bodyPr wrap="square" lIns="0" tIns="0" rIns="0" bIns="0" rtlCol="0" anchor="t"/>
          <a:lstStyle/>
          <a:p>
            <a:pPr indent="0" marL="0">
              <a:buNone/>
            </a:pPr>
            <a:r>
              <a:rPr lang="en-US" sz="1400" dirty="0">
                <a:solidFill>
                  <a:schemeClr val="accent3"/>
                </a:solidFill>
              </a:rPr>
              <a:t>Academic Year [20XX–20XX]</a:t>
            </a:r>
            <a:endParaRPr lang="en-US" sz="1400" dirty="0"/>
          </a:p>
        </p:txBody>
      </p:sp>
      <p:sp>
        <p:nvSpPr>
          <p:cNvPr id="7" name="sun halo outer"/>
          <p:cNvSpPr/>
          <p:nvPr/>
        </p:nvSpPr>
        <p:spPr>
          <a:xfrm>
            <a:off x="6309360" y="960120"/>
            <a:ext cx="2651760" cy="2651760"/>
          </a:xfrm>
          <a:prstGeom prst="ellipse">
            <a:avLst/>
          </a:prstGeom>
          <a:solidFill>
            <a:schemeClr val="accent1">
              <a:alpha val="18000"/>
            </a:schemeClr>
          </a:solidFill>
          <a:ln/>
        </p:spPr>
      </p:sp>
      <p:sp>
        <p:nvSpPr>
          <p:cNvPr id="8" name="sun halo inner"/>
          <p:cNvSpPr/>
          <p:nvPr/>
        </p:nvSpPr>
        <p:spPr>
          <a:xfrm>
            <a:off x="6629400" y="1280160"/>
            <a:ext cx="2011680" cy="2011680"/>
          </a:xfrm>
          <a:prstGeom prst="ellipse">
            <a:avLst/>
          </a:prstGeom>
          <a:solidFill>
            <a:schemeClr val="accent1">
              <a:alpha val="40000"/>
            </a:schemeClr>
          </a:solidFill>
          <a:ln/>
        </p:spPr>
      </p:sp>
      <p:sp>
        <p:nvSpPr>
          <p:cNvPr id="9" name="Sun circle"/>
          <p:cNvSpPr/>
          <p:nvPr/>
        </p:nvSpPr>
        <p:spPr>
          <a:xfrm>
            <a:off x="6949440" y="1600200"/>
            <a:ext cx="1371600" cy="1371600"/>
          </a:xfrm>
          <a:prstGeom prst="ellipse">
            <a:avLst/>
          </a:prstGeom>
          <a:solidFill>
            <a:schemeClr val="accent1"/>
          </a:solidFill>
          <a:ln/>
        </p:spPr>
      </p:sp>
      <p:pic>
        <p:nvPicPr>
          <p:cNvPr id="10" name="Sun icon" descr="Sun">    </p:cNvPr>
          <p:cNvPicPr>
            <a:picLocks noChangeAspect="1"/>
          </p:cNvPicPr>
          <p:nvPr/>
        </p:nvPicPr>
        <p:blipFill>
          <a:blip r:embed="rId1"/>
          <a:stretch>
            <a:fillRect/>
          </a:stretch>
        </p:blipFill>
        <p:spPr>
          <a:xfrm>
            <a:off x="7292340" y="1943100"/>
            <a:ext cx="685800" cy="685800"/>
          </a:xfrm>
          <a:prstGeom prst="rect">
            <a:avLst/>
          </a:prstGeom>
        </p:spPr>
      </p:pic>
      <p:sp>
        <p:nvSpPr>
          <p:cNvPr id="11" name="Text 8"/>
          <p:cNvSpPr txBox="1"/>
          <p:nvPr/>
        </p:nvSpPr>
        <p:spPr>
          <a:xfrm>
            <a:off x="5760720" y="4023360"/>
            <a:ext cx="2926080" cy="457200"/>
          </a:xfrm>
          <a:prstGeom prst="rect">
            <a:avLst/>
          </a:prstGeom>
          <a:noFill/>
          <a:ln/>
        </p:spPr>
        <p:txBody>
          <a:bodyPr wrap="square" lIns="0" tIns="0" rIns="0" bIns="0" rtlCol="0" anchor="t"/>
          <a:lstStyle/>
          <a:p>
            <a:pPr algn="r" indent="0" marL="0">
              <a:buNone/>
            </a:pPr>
            <a:r>
              <a:rPr lang="en-US" sz="1100" dirty="0">
                <a:solidFill>
                  <a:schemeClr val="accent3"/>
                </a:solidFill>
              </a:rPr>
              <a:t>Dataset: Indian Solar Power Generation Data (Kaggle), Plant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Introduction: Why Predict Solar Power?</a:t>
            </a:r>
            <a:endParaRPr lang="en-US" sz="2800" dirty="0"/>
          </a:p>
        </p:txBody>
      </p:sp>
      <p:sp>
        <p:nvSpPr>
          <p:cNvPr id="3" name="Sun circle"/>
          <p:cNvSpPr/>
          <p:nvPr/>
        </p:nvSpPr>
        <p:spPr>
          <a:xfrm>
            <a:off x="8229600" y="347472"/>
            <a:ext cx="457200" cy="457200"/>
          </a:xfrm>
          <a:prstGeom prst="ellipse">
            <a:avLst/>
          </a:prstGeom>
          <a:solidFill>
            <a:schemeClr val="accent1"/>
          </a:solidFill>
          <a:ln/>
        </p:spPr>
      </p:sp>
      <p:pic>
        <p:nvPicPr>
          <p:cNvPr id="4" name="Sun icon" descr="Sun">    </p:cNvPr>
          <p:cNvPicPr>
            <a:picLocks noChangeAspect="1"/>
          </p:cNvPicPr>
          <p:nvPr/>
        </p:nvPicPr>
        <p:blipFill>
          <a:blip r:embed="rId1"/>
          <a:stretch>
            <a:fillRect/>
          </a:stretch>
        </p:blipFill>
        <p:spPr>
          <a:xfrm>
            <a:off x="8343900" y="461772"/>
            <a:ext cx="228600" cy="228600"/>
          </a:xfrm>
          <a:prstGeom prst="rect">
            <a:avLst/>
          </a:prstGeom>
        </p:spPr>
      </p:pic>
      <p:sp>
        <p:nvSpPr>
          <p:cNvPr id="5" name="Intro card 1"/>
          <p:cNvSpPr/>
          <p:nvPr/>
        </p:nvSpPr>
        <p:spPr>
          <a:xfrm>
            <a:off x="457200" y="1188720"/>
            <a:ext cx="2560320" cy="2606040"/>
          </a:xfrm>
          <a:prstGeom prst="roundRect">
            <a:avLst>
              <a:gd name="adj" fmla="val 3571"/>
            </a:avLst>
          </a:prstGeom>
          <a:solidFill>
            <a:schemeClr val="bg2"/>
          </a:solidFill>
          <a:ln/>
        </p:spPr>
      </p:sp>
      <p:sp>
        <p:nvSpPr>
          <p:cNvPr id="6" name="Solar is a key renewable source circle"/>
          <p:cNvSpPr/>
          <p:nvPr/>
        </p:nvSpPr>
        <p:spPr>
          <a:xfrm>
            <a:off x="685800" y="1417320"/>
            <a:ext cx="640080" cy="640080"/>
          </a:xfrm>
          <a:prstGeom prst="ellipse">
            <a:avLst/>
          </a:prstGeom>
          <a:solidFill>
            <a:schemeClr val="accent1"/>
          </a:solidFill>
          <a:ln/>
        </p:spPr>
      </p:sp>
      <p:pic>
        <p:nvPicPr>
          <p:cNvPr id="7" name="Solar is a key renewable source icon" descr="Solar is a key renewable source">    </p:cNvPr>
          <p:cNvPicPr>
            <a:picLocks noChangeAspect="1"/>
          </p:cNvPicPr>
          <p:nvPr/>
        </p:nvPicPr>
        <p:blipFill>
          <a:blip r:embed="rId2"/>
          <a:stretch>
            <a:fillRect/>
          </a:stretch>
        </p:blipFill>
        <p:spPr>
          <a:xfrm>
            <a:off x="845820" y="1577340"/>
            <a:ext cx="320040" cy="320040"/>
          </a:xfrm>
          <a:prstGeom prst="rect">
            <a:avLst/>
          </a:prstGeom>
        </p:spPr>
      </p:pic>
      <p:sp>
        <p:nvSpPr>
          <p:cNvPr id="8" name="Text 4"/>
          <p:cNvSpPr txBox="1"/>
          <p:nvPr/>
        </p:nvSpPr>
        <p:spPr>
          <a:xfrm>
            <a:off x="685800" y="2194560"/>
            <a:ext cx="2148840" cy="548640"/>
          </a:xfrm>
          <a:prstGeom prst="rect">
            <a:avLst/>
          </a:prstGeom>
          <a:noFill/>
          <a:ln/>
        </p:spPr>
        <p:txBody>
          <a:bodyPr wrap="square" lIns="0" tIns="0" rIns="0" bIns="0" rtlCol="0" anchor="t"/>
          <a:lstStyle/>
          <a:p>
            <a:pPr indent="0" marL="0">
              <a:buNone/>
            </a:pPr>
            <a:r>
              <a:rPr lang="en-US" sz="1600" b="1" dirty="0">
                <a:solidFill>
                  <a:schemeClr val="tx2"/>
                </a:solidFill>
              </a:rPr>
              <a:t>Solar is a key renewable source</a:t>
            </a:r>
            <a:endParaRPr lang="en-US" sz="1600" dirty="0"/>
          </a:p>
        </p:txBody>
      </p:sp>
      <p:sp>
        <p:nvSpPr>
          <p:cNvPr id="9" name="Text 5"/>
          <p:cNvSpPr txBox="1"/>
          <p:nvPr/>
        </p:nvSpPr>
        <p:spPr>
          <a:xfrm>
            <a:off x="685800" y="2743200"/>
            <a:ext cx="2148840" cy="731520"/>
          </a:xfrm>
          <a:prstGeom prst="rect">
            <a:avLst/>
          </a:prstGeom>
          <a:noFill/>
          <a:ln/>
        </p:spPr>
        <p:txBody>
          <a:bodyPr wrap="square" lIns="0" tIns="0" rIns="0" bIns="0" rtlCol="0" anchor="t"/>
          <a:lstStyle/>
          <a:p>
            <a:pPr indent="0" marL="0">
              <a:buNone/>
            </a:pPr>
            <a:r>
              <a:rPr lang="en-US" sz="1300" dirty="0">
                <a:solidFill>
                  <a:schemeClr val="tx1"/>
                </a:solidFill>
              </a:rPr>
              <a:t>Photovoltaic plants convert sunlight directly into electricity without burning fuel.</a:t>
            </a:r>
            <a:endParaRPr lang="en-US" sz="1300" dirty="0"/>
          </a:p>
        </p:txBody>
      </p:sp>
      <p:sp>
        <p:nvSpPr>
          <p:cNvPr id="10" name="Intro card 2"/>
          <p:cNvSpPr/>
          <p:nvPr/>
        </p:nvSpPr>
        <p:spPr>
          <a:xfrm>
            <a:off x="3291840" y="1188720"/>
            <a:ext cx="2560320" cy="2606040"/>
          </a:xfrm>
          <a:prstGeom prst="roundRect">
            <a:avLst>
              <a:gd name="adj" fmla="val 3571"/>
            </a:avLst>
          </a:prstGeom>
          <a:solidFill>
            <a:schemeClr val="bg2"/>
          </a:solidFill>
          <a:ln/>
        </p:spPr>
      </p:sp>
      <p:sp>
        <p:nvSpPr>
          <p:cNvPr id="11" name="Output depends on the weather circle"/>
          <p:cNvSpPr/>
          <p:nvPr/>
        </p:nvSpPr>
        <p:spPr>
          <a:xfrm>
            <a:off x="3520440" y="1417320"/>
            <a:ext cx="640080" cy="640080"/>
          </a:xfrm>
          <a:prstGeom prst="ellipse">
            <a:avLst/>
          </a:prstGeom>
          <a:solidFill>
            <a:schemeClr val="accent1"/>
          </a:solidFill>
          <a:ln/>
        </p:spPr>
      </p:sp>
      <p:pic>
        <p:nvPicPr>
          <p:cNvPr id="12" name="Output depends on the weather icon" descr="Output depends on the weather">    </p:cNvPr>
          <p:cNvPicPr>
            <a:picLocks noChangeAspect="1"/>
          </p:cNvPicPr>
          <p:nvPr/>
        </p:nvPicPr>
        <p:blipFill>
          <a:blip r:embed="rId3"/>
          <a:stretch>
            <a:fillRect/>
          </a:stretch>
        </p:blipFill>
        <p:spPr>
          <a:xfrm>
            <a:off x="3680460" y="1577340"/>
            <a:ext cx="320040" cy="320040"/>
          </a:xfrm>
          <a:prstGeom prst="rect">
            <a:avLst/>
          </a:prstGeom>
        </p:spPr>
      </p:pic>
      <p:sp>
        <p:nvSpPr>
          <p:cNvPr id="13" name="Text 8"/>
          <p:cNvSpPr txBox="1"/>
          <p:nvPr/>
        </p:nvSpPr>
        <p:spPr>
          <a:xfrm>
            <a:off x="3520440" y="2194560"/>
            <a:ext cx="2148840" cy="548640"/>
          </a:xfrm>
          <a:prstGeom prst="rect">
            <a:avLst/>
          </a:prstGeom>
          <a:noFill/>
          <a:ln/>
        </p:spPr>
        <p:txBody>
          <a:bodyPr wrap="square" lIns="0" tIns="0" rIns="0" bIns="0" rtlCol="0" anchor="t"/>
          <a:lstStyle/>
          <a:p>
            <a:pPr indent="0" marL="0">
              <a:buNone/>
            </a:pPr>
            <a:r>
              <a:rPr lang="en-US" sz="1600" b="1" dirty="0">
                <a:solidFill>
                  <a:schemeClr val="tx2"/>
                </a:solidFill>
              </a:rPr>
              <a:t>Output depends on the weather</a:t>
            </a:r>
            <a:endParaRPr lang="en-US" sz="1600" dirty="0"/>
          </a:p>
        </p:txBody>
      </p:sp>
      <p:sp>
        <p:nvSpPr>
          <p:cNvPr id="14" name="Text 9"/>
          <p:cNvSpPr txBox="1"/>
          <p:nvPr/>
        </p:nvSpPr>
        <p:spPr>
          <a:xfrm>
            <a:off x="3520440" y="2743200"/>
            <a:ext cx="2148840" cy="731520"/>
          </a:xfrm>
          <a:prstGeom prst="rect">
            <a:avLst/>
          </a:prstGeom>
          <a:noFill/>
          <a:ln/>
        </p:spPr>
        <p:txBody>
          <a:bodyPr wrap="square" lIns="0" tIns="0" rIns="0" bIns="0" rtlCol="0" anchor="t"/>
          <a:lstStyle/>
          <a:p>
            <a:pPr indent="0" marL="0">
              <a:buNone/>
            </a:pPr>
            <a:r>
              <a:rPr lang="en-US" sz="1300" dirty="0">
                <a:solidFill>
                  <a:schemeClr val="tx1"/>
                </a:solidFill>
              </a:rPr>
              <a:t>Irradiation and temperature change through the day, so plant power output keeps changing.</a:t>
            </a:r>
            <a:endParaRPr lang="en-US" sz="1300" dirty="0"/>
          </a:p>
        </p:txBody>
      </p:sp>
      <p:sp>
        <p:nvSpPr>
          <p:cNvPr id="15" name="Intro card 3"/>
          <p:cNvSpPr/>
          <p:nvPr/>
        </p:nvSpPr>
        <p:spPr>
          <a:xfrm>
            <a:off x="6126480" y="1188720"/>
            <a:ext cx="2560320" cy="2606040"/>
          </a:xfrm>
          <a:prstGeom prst="roundRect">
            <a:avLst>
              <a:gd name="adj" fmla="val 3571"/>
            </a:avLst>
          </a:prstGeom>
          <a:solidFill>
            <a:schemeClr val="bg2"/>
          </a:solidFill>
          <a:ln/>
        </p:spPr>
      </p:sp>
      <p:sp>
        <p:nvSpPr>
          <p:cNvPr id="16" name="Predictive analytics helps circle"/>
          <p:cNvSpPr/>
          <p:nvPr/>
        </p:nvSpPr>
        <p:spPr>
          <a:xfrm>
            <a:off x="6355080" y="1417320"/>
            <a:ext cx="640080" cy="640080"/>
          </a:xfrm>
          <a:prstGeom prst="ellipse">
            <a:avLst/>
          </a:prstGeom>
          <a:solidFill>
            <a:schemeClr val="accent1"/>
          </a:solidFill>
          <a:ln/>
        </p:spPr>
      </p:sp>
      <p:pic>
        <p:nvPicPr>
          <p:cNvPr id="17" name="Predictive analytics helps icon" descr="Predictive analytics helps">    </p:cNvPr>
          <p:cNvPicPr>
            <a:picLocks noChangeAspect="1"/>
          </p:cNvPicPr>
          <p:nvPr/>
        </p:nvPicPr>
        <p:blipFill>
          <a:blip r:embed="rId4"/>
          <a:stretch>
            <a:fillRect/>
          </a:stretch>
        </p:blipFill>
        <p:spPr>
          <a:xfrm>
            <a:off x="6515100" y="1577340"/>
            <a:ext cx="320040" cy="320040"/>
          </a:xfrm>
          <a:prstGeom prst="rect">
            <a:avLst/>
          </a:prstGeom>
        </p:spPr>
      </p:pic>
      <p:sp>
        <p:nvSpPr>
          <p:cNvPr id="18" name="Text 12"/>
          <p:cNvSpPr txBox="1"/>
          <p:nvPr/>
        </p:nvSpPr>
        <p:spPr>
          <a:xfrm>
            <a:off x="6355080" y="2194560"/>
            <a:ext cx="2148840" cy="548640"/>
          </a:xfrm>
          <a:prstGeom prst="rect">
            <a:avLst/>
          </a:prstGeom>
          <a:noFill/>
          <a:ln/>
        </p:spPr>
        <p:txBody>
          <a:bodyPr wrap="square" lIns="0" tIns="0" rIns="0" bIns="0" rtlCol="0" anchor="t"/>
          <a:lstStyle/>
          <a:p>
            <a:pPr indent="0" marL="0">
              <a:buNone/>
            </a:pPr>
            <a:r>
              <a:rPr lang="en-US" sz="1600" b="1" dirty="0">
                <a:solidFill>
                  <a:schemeClr val="tx2"/>
                </a:solidFill>
              </a:rPr>
              <a:t>Predictive analytics helps</a:t>
            </a:r>
            <a:endParaRPr lang="en-US" sz="1600" dirty="0"/>
          </a:p>
        </p:txBody>
      </p:sp>
      <p:sp>
        <p:nvSpPr>
          <p:cNvPr id="19" name="Text 13"/>
          <p:cNvSpPr txBox="1"/>
          <p:nvPr/>
        </p:nvSpPr>
        <p:spPr>
          <a:xfrm>
            <a:off x="6355080" y="2743200"/>
            <a:ext cx="2148840" cy="731520"/>
          </a:xfrm>
          <a:prstGeom prst="rect">
            <a:avLst/>
          </a:prstGeom>
          <a:noFill/>
          <a:ln/>
        </p:spPr>
        <p:txBody>
          <a:bodyPr wrap="square" lIns="0" tIns="0" rIns="0" bIns="0" rtlCol="0" anchor="t"/>
          <a:lstStyle/>
          <a:p>
            <a:pPr indent="0" marL="0">
              <a:buNone/>
            </a:pPr>
            <a:r>
              <a:rPr lang="en-US" sz="1300" dirty="0">
                <a:solidFill>
                  <a:schemeClr val="tx1"/>
                </a:solidFill>
              </a:rPr>
              <a:t>Machine learning learns the weather-to-power relationship from historical plant data.</a:t>
            </a:r>
            <a:endParaRPr lang="en-US" sz="1300" dirty="0"/>
          </a:p>
        </p:txBody>
      </p:sp>
      <p:sp>
        <p:nvSpPr>
          <p:cNvPr id="20" name="Guiding question banner"/>
          <p:cNvSpPr/>
          <p:nvPr/>
        </p:nvSpPr>
        <p:spPr>
          <a:xfrm>
            <a:off x="457200" y="3977640"/>
            <a:ext cx="8138160" cy="640080"/>
          </a:xfrm>
          <a:prstGeom prst="roundRect">
            <a:avLst>
              <a:gd name="adj" fmla="val 14286"/>
            </a:avLst>
          </a:prstGeom>
          <a:solidFill>
            <a:schemeClr val="tx2"/>
          </a:solidFill>
          <a:ln/>
        </p:spPr>
      </p:sp>
      <p:sp>
        <p:nvSpPr>
          <p:cNvPr id="21" name="Text 15"/>
          <p:cNvSpPr txBox="1"/>
          <p:nvPr/>
        </p:nvSpPr>
        <p:spPr>
          <a:xfrm>
            <a:off x="685800" y="3977640"/>
            <a:ext cx="7680960" cy="640080"/>
          </a:xfrm>
          <a:prstGeom prst="rect">
            <a:avLst/>
          </a:prstGeom>
          <a:noFill/>
          <a:ln/>
        </p:spPr>
        <p:txBody>
          <a:bodyPr wrap="square" lIns="0" tIns="0" rIns="0" bIns="0" rtlCol="0" anchor="ctr"/>
          <a:lstStyle/>
          <a:p>
            <a:pPr indent="0" marL="0">
              <a:buNone/>
            </a:pPr>
            <a:r>
              <a:rPr lang="en-US" sz="1500" b="1" dirty="0">
                <a:solidFill>
                  <a:schemeClr val="bg1"/>
                </a:solidFill>
              </a:rPr>
              <a:t>Guiding question: how accurately can weather and time features estimate plant-level AC power?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Problem Statement and Objectives</a:t>
            </a:r>
            <a:endParaRPr lang="en-US" sz="2800" dirty="0"/>
          </a:p>
        </p:txBody>
      </p:sp>
      <p:sp>
        <p:nvSpPr>
          <p:cNvPr id="3" name="Target circle"/>
          <p:cNvSpPr/>
          <p:nvPr/>
        </p:nvSpPr>
        <p:spPr>
          <a:xfrm>
            <a:off x="8229600" y="347472"/>
            <a:ext cx="457200" cy="457200"/>
          </a:xfrm>
          <a:prstGeom prst="ellipse">
            <a:avLst/>
          </a:prstGeom>
          <a:solidFill>
            <a:schemeClr val="accent1"/>
          </a:solidFill>
          <a:ln/>
        </p:spPr>
      </p:sp>
      <p:pic>
        <p:nvPicPr>
          <p:cNvPr id="4" name="Target icon" descr="Target">    </p:cNvPr>
          <p:cNvPicPr>
            <a:picLocks noChangeAspect="1"/>
          </p:cNvPicPr>
          <p:nvPr/>
        </p:nvPicPr>
        <p:blipFill>
          <a:blip r:embed="rId1"/>
          <a:stretch>
            <a:fillRect/>
          </a:stretch>
        </p:blipFill>
        <p:spPr>
          <a:xfrm>
            <a:off x="8343900" y="461772"/>
            <a:ext cx="228600" cy="228600"/>
          </a:xfrm>
          <a:prstGeom prst="rect">
            <a:avLst/>
          </a:prstGeom>
        </p:spPr>
      </p:pic>
      <p:sp>
        <p:nvSpPr>
          <p:cNvPr id="5" name="Problem card"/>
          <p:cNvSpPr/>
          <p:nvPr/>
        </p:nvSpPr>
        <p:spPr>
          <a:xfrm>
            <a:off x="457200" y="1143000"/>
            <a:ext cx="3566160" cy="3429000"/>
          </a:xfrm>
          <a:prstGeom prst="roundRect">
            <a:avLst>
              <a:gd name="adj" fmla="val 2667"/>
            </a:avLst>
          </a:prstGeom>
          <a:solidFill>
            <a:schemeClr val="tx2"/>
          </a:solidFill>
          <a:ln/>
        </p:spPr>
      </p:sp>
      <p:sp>
        <p:nvSpPr>
          <p:cNvPr id="6" name="Text 3"/>
          <p:cNvSpPr txBox="1"/>
          <p:nvPr/>
        </p:nvSpPr>
        <p:spPr>
          <a:xfrm>
            <a:off x="685800" y="1371600"/>
            <a:ext cx="310896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WHAT IS PREDICTED</a:t>
            </a:r>
            <a:endParaRPr lang="en-US" sz="1100" dirty="0"/>
          </a:p>
        </p:txBody>
      </p:sp>
      <p:sp>
        <p:nvSpPr>
          <p:cNvPr id="7" name="Text 4"/>
          <p:cNvSpPr txBox="1"/>
          <p:nvPr/>
        </p:nvSpPr>
        <p:spPr>
          <a:xfrm>
            <a:off x="685800" y="1691640"/>
            <a:ext cx="3108960" cy="914400"/>
          </a:xfrm>
          <a:prstGeom prst="rect">
            <a:avLst/>
          </a:prstGeom>
          <a:noFill/>
          <a:ln/>
        </p:spPr>
        <p:txBody>
          <a:bodyPr wrap="square" lIns="0" tIns="0" rIns="0" bIns="0" rtlCol="0" anchor="t"/>
          <a:lstStyle/>
          <a:p>
            <a:pPr indent="0" marL="0">
              <a:buNone/>
            </a:pPr>
            <a:r>
              <a:rPr lang="en-US" sz="1800" b="1" dirty="0">
                <a:solidFill>
                  <a:schemeClr val="bg1"/>
                </a:solidFill>
              </a:rPr>
              <a:t>Total plant-level AC power output (AC_POWER, kW)</a:t>
            </a:r>
            <a:endParaRPr lang="en-US" sz="1800" dirty="0"/>
          </a:p>
        </p:txBody>
      </p:sp>
      <p:sp>
        <p:nvSpPr>
          <p:cNvPr id="8" name="Text 5"/>
          <p:cNvSpPr txBox="1"/>
          <p:nvPr/>
        </p:nvSpPr>
        <p:spPr>
          <a:xfrm>
            <a:off x="685800" y="2697480"/>
            <a:ext cx="310896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WHY</a:t>
            </a:r>
            <a:endParaRPr lang="en-US" sz="1100" dirty="0"/>
          </a:p>
        </p:txBody>
      </p:sp>
      <p:sp>
        <p:nvSpPr>
          <p:cNvPr id="9" name="Text 6"/>
          <p:cNvSpPr txBox="1"/>
          <p:nvPr/>
        </p:nvSpPr>
        <p:spPr>
          <a:xfrm>
            <a:off x="685800" y="2971800"/>
            <a:ext cx="3108960" cy="731520"/>
          </a:xfrm>
          <a:prstGeom prst="rect">
            <a:avLst/>
          </a:prstGeom>
          <a:noFill/>
          <a:ln/>
        </p:spPr>
        <p:txBody>
          <a:bodyPr wrap="square" lIns="0" tIns="0" rIns="0" bIns="0" rtlCol="0" anchor="t"/>
          <a:lstStyle/>
          <a:p>
            <a:pPr indent="0" marL="0">
              <a:buNone/>
            </a:pPr>
            <a:r>
              <a:rPr lang="en-US" sz="1400" dirty="0">
                <a:solidFill>
                  <a:schemeClr val="bg1"/>
                </a:solidFill>
              </a:rPr>
              <a:t>To understand how measured weather and time of day relate to generated power.</a:t>
            </a:r>
            <a:endParaRPr lang="en-US" sz="1400" dirty="0"/>
          </a:p>
        </p:txBody>
      </p:sp>
      <p:sp>
        <p:nvSpPr>
          <p:cNvPr id="10" name="Scope tag"/>
          <p:cNvSpPr txBox="1"/>
          <p:nvPr/>
        </p:nvSpPr>
        <p:spPr>
          <a:xfrm>
            <a:off x="685800" y="3886200"/>
            <a:ext cx="3108960" cy="457200"/>
          </a:xfrm>
          <a:prstGeom prst="roundRect">
            <a:avLst>
              <a:gd name="adj" fmla="val 16000"/>
            </a:avLst>
          </a:prstGeom>
          <a:solidFill>
            <a:schemeClr val="accent4"/>
          </a:solidFill>
          <a:ln/>
        </p:spPr>
        <p:txBody>
          <a:bodyPr wrap="square" lIns="635" tIns="635" rIns="635" bIns="635" rtlCol="0" anchor="ctr"/>
          <a:lstStyle/>
          <a:p>
            <a:pPr algn="ctr" indent="0" marL="0">
              <a:buNone/>
            </a:pPr>
            <a:r>
              <a:rPr lang="en-US" sz="1200" b="1" dirty="0">
                <a:solidFill>
                  <a:schemeClr val="tx2"/>
                </a:solidFill>
              </a:rPr>
              <a:t>Same-timestamp estimation, not future forecasting</a:t>
            </a:r>
            <a:endParaRPr lang="en-US" sz="1200" dirty="0"/>
          </a:p>
        </p:txBody>
      </p:sp>
      <p:sp>
        <p:nvSpPr>
          <p:cNvPr id="11" name="Objective number 1"/>
          <p:cNvSpPr/>
          <p:nvPr/>
        </p:nvSpPr>
        <p:spPr>
          <a:xfrm>
            <a:off x="4343400" y="1216152"/>
            <a:ext cx="548640" cy="548640"/>
          </a:xfrm>
          <a:prstGeom prst="ellipse">
            <a:avLst/>
          </a:prstGeom>
          <a:solidFill>
            <a:schemeClr val="accent1"/>
          </a:solidFill>
          <a:ln/>
        </p:spPr>
      </p:sp>
      <p:sp>
        <p:nvSpPr>
          <p:cNvPr id="12" name="Text 9"/>
          <p:cNvSpPr txBox="1"/>
          <p:nvPr/>
        </p:nvSpPr>
        <p:spPr>
          <a:xfrm>
            <a:off x="4343400" y="121615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3" name="Text 10"/>
          <p:cNvSpPr txBox="1"/>
          <p:nvPr/>
        </p:nvSpPr>
        <p:spPr>
          <a:xfrm>
            <a:off x="5120640" y="1188720"/>
            <a:ext cx="3566160" cy="320040"/>
          </a:xfrm>
          <a:prstGeom prst="rect">
            <a:avLst/>
          </a:prstGeom>
          <a:noFill/>
          <a:ln/>
        </p:spPr>
        <p:txBody>
          <a:bodyPr wrap="square" lIns="0" tIns="0" rIns="0" bIns="0" rtlCol="0" anchor="t"/>
          <a:lstStyle/>
          <a:p>
            <a:pPr indent="0" marL="0">
              <a:buNone/>
            </a:pPr>
            <a:r>
              <a:rPr lang="en-US" sz="1600" b="1" dirty="0">
                <a:solidFill>
                  <a:schemeClr val="tx2"/>
                </a:solidFill>
              </a:rPr>
              <a:t>Build a clean plant-level dataset</a:t>
            </a:r>
            <a:endParaRPr lang="en-US" sz="1600" dirty="0"/>
          </a:p>
        </p:txBody>
      </p:sp>
      <p:sp>
        <p:nvSpPr>
          <p:cNvPr id="14" name="Text 11"/>
          <p:cNvSpPr txBox="1"/>
          <p:nvPr/>
        </p:nvSpPr>
        <p:spPr>
          <a:xfrm>
            <a:off x="5120640" y="1508760"/>
            <a:ext cx="3566160" cy="320040"/>
          </a:xfrm>
          <a:prstGeom prst="rect">
            <a:avLst/>
          </a:prstGeom>
          <a:noFill/>
          <a:ln/>
        </p:spPr>
        <p:txBody>
          <a:bodyPr wrap="square" lIns="0" tIns="0" rIns="0" bIns="0" rtlCol="0" anchor="t"/>
          <a:lstStyle/>
          <a:p>
            <a:pPr indent="0" marL="0">
              <a:buNone/>
            </a:pPr>
            <a:r>
              <a:rPr lang="en-US" sz="1300" dirty="0">
                <a:solidFill>
                  <a:schemeClr val="tx1"/>
                </a:solidFill>
              </a:rPr>
              <a:t>Combine Plant 1 generation and weather data.</a:t>
            </a:r>
            <a:endParaRPr lang="en-US" sz="1300" dirty="0"/>
          </a:p>
        </p:txBody>
      </p:sp>
      <p:sp>
        <p:nvSpPr>
          <p:cNvPr id="15" name="Objective number 2"/>
          <p:cNvSpPr/>
          <p:nvPr/>
        </p:nvSpPr>
        <p:spPr>
          <a:xfrm>
            <a:off x="4343400" y="2084832"/>
            <a:ext cx="548640" cy="548640"/>
          </a:xfrm>
          <a:prstGeom prst="ellipse">
            <a:avLst/>
          </a:prstGeom>
          <a:solidFill>
            <a:schemeClr val="accent1"/>
          </a:solidFill>
          <a:ln/>
        </p:spPr>
      </p:sp>
      <p:sp>
        <p:nvSpPr>
          <p:cNvPr id="16" name="Text 13"/>
          <p:cNvSpPr txBox="1"/>
          <p:nvPr/>
        </p:nvSpPr>
        <p:spPr>
          <a:xfrm>
            <a:off x="4343400" y="208483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7" name="Text 14"/>
          <p:cNvSpPr txBox="1"/>
          <p:nvPr/>
        </p:nvSpPr>
        <p:spPr>
          <a:xfrm>
            <a:off x="5120640" y="2057400"/>
            <a:ext cx="3566160" cy="320040"/>
          </a:xfrm>
          <a:prstGeom prst="rect">
            <a:avLst/>
          </a:prstGeom>
          <a:noFill/>
          <a:ln/>
        </p:spPr>
        <p:txBody>
          <a:bodyPr wrap="square" lIns="0" tIns="0" rIns="0" bIns="0" rtlCol="0" anchor="t"/>
          <a:lstStyle/>
          <a:p>
            <a:pPr indent="0" marL="0">
              <a:buNone/>
            </a:pPr>
            <a:r>
              <a:rPr lang="en-US" sz="1600" b="1" dirty="0">
                <a:solidFill>
                  <a:schemeClr val="tx2"/>
                </a:solidFill>
              </a:rPr>
              <a:t>Compare three regression models</a:t>
            </a:r>
            <a:endParaRPr lang="en-US" sz="1600" dirty="0"/>
          </a:p>
        </p:txBody>
      </p:sp>
      <p:sp>
        <p:nvSpPr>
          <p:cNvPr id="18" name="Text 15"/>
          <p:cNvSpPr txBox="1"/>
          <p:nvPr/>
        </p:nvSpPr>
        <p:spPr>
          <a:xfrm>
            <a:off x="5120640" y="2377440"/>
            <a:ext cx="3566160" cy="320040"/>
          </a:xfrm>
          <a:prstGeom prst="rect">
            <a:avLst/>
          </a:prstGeom>
          <a:noFill/>
          <a:ln/>
        </p:spPr>
        <p:txBody>
          <a:bodyPr wrap="square" lIns="0" tIns="0" rIns="0" bIns="0" rtlCol="0" anchor="t"/>
          <a:lstStyle/>
          <a:p>
            <a:pPr indent="0" marL="0">
              <a:buNone/>
            </a:pPr>
            <a:r>
              <a:rPr lang="en-US" sz="1300" dirty="0">
                <a:solidFill>
                  <a:schemeClr val="tx1"/>
                </a:solidFill>
              </a:rPr>
              <a:t>Linear Regression, Random Forest, Gradient Boosting.</a:t>
            </a:r>
            <a:endParaRPr lang="en-US" sz="1300" dirty="0"/>
          </a:p>
        </p:txBody>
      </p:sp>
      <p:sp>
        <p:nvSpPr>
          <p:cNvPr id="19" name="Objective number 3"/>
          <p:cNvSpPr/>
          <p:nvPr/>
        </p:nvSpPr>
        <p:spPr>
          <a:xfrm>
            <a:off x="4343400" y="2953512"/>
            <a:ext cx="548640" cy="548640"/>
          </a:xfrm>
          <a:prstGeom prst="ellipse">
            <a:avLst/>
          </a:prstGeom>
          <a:solidFill>
            <a:schemeClr val="accent1"/>
          </a:solidFill>
          <a:ln/>
        </p:spPr>
      </p:sp>
      <p:sp>
        <p:nvSpPr>
          <p:cNvPr id="20" name="Text 17"/>
          <p:cNvSpPr txBox="1"/>
          <p:nvPr/>
        </p:nvSpPr>
        <p:spPr>
          <a:xfrm>
            <a:off x="4343400" y="29535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8"/>
          <p:cNvSpPr txBox="1"/>
          <p:nvPr/>
        </p:nvSpPr>
        <p:spPr>
          <a:xfrm>
            <a:off x="5120640" y="2926080"/>
            <a:ext cx="3566160" cy="320040"/>
          </a:xfrm>
          <a:prstGeom prst="rect">
            <a:avLst/>
          </a:prstGeom>
          <a:noFill/>
          <a:ln/>
        </p:spPr>
        <p:txBody>
          <a:bodyPr wrap="square" lIns="0" tIns="0" rIns="0" bIns="0" rtlCol="0" anchor="t"/>
          <a:lstStyle/>
          <a:p>
            <a:pPr indent="0" marL="0">
              <a:buNone/>
            </a:pPr>
            <a:r>
              <a:rPr lang="en-US" sz="1600" b="1" dirty="0">
                <a:solidFill>
                  <a:schemeClr val="tx2"/>
                </a:solidFill>
              </a:rPr>
              <a:t>Evaluate fairly over time</a:t>
            </a:r>
            <a:endParaRPr lang="en-US" sz="1600" dirty="0"/>
          </a:p>
        </p:txBody>
      </p:sp>
      <p:sp>
        <p:nvSpPr>
          <p:cNvPr id="22" name="Text 19"/>
          <p:cNvSpPr txBox="1"/>
          <p:nvPr/>
        </p:nvSpPr>
        <p:spPr>
          <a:xfrm>
            <a:off x="5120640" y="3246120"/>
            <a:ext cx="3566160" cy="320040"/>
          </a:xfrm>
          <a:prstGeom prst="rect">
            <a:avLst/>
          </a:prstGeom>
          <a:noFill/>
          <a:ln/>
        </p:spPr>
        <p:txBody>
          <a:bodyPr wrap="square" lIns="0" tIns="0" rIns="0" bIns="0" rtlCol="0" anchor="t"/>
          <a:lstStyle/>
          <a:p>
            <a:pPr indent="0" marL="0">
              <a:buNone/>
            </a:pPr>
            <a:r>
              <a:rPr lang="en-US" sz="1300" dirty="0">
                <a:solidFill>
                  <a:schemeClr val="tx1"/>
                </a:solidFill>
              </a:rPr>
              <a:t>Chronological 80:20 split; MAE, RMSE and R².</a:t>
            </a:r>
            <a:endParaRPr lang="en-US" sz="1300" dirty="0"/>
          </a:p>
        </p:txBody>
      </p:sp>
      <p:sp>
        <p:nvSpPr>
          <p:cNvPr id="23" name="Objective number 4"/>
          <p:cNvSpPr/>
          <p:nvPr/>
        </p:nvSpPr>
        <p:spPr>
          <a:xfrm>
            <a:off x="4343400" y="3822192"/>
            <a:ext cx="548640" cy="548640"/>
          </a:xfrm>
          <a:prstGeom prst="ellipse">
            <a:avLst/>
          </a:prstGeom>
          <a:solidFill>
            <a:schemeClr val="accent1"/>
          </a:solidFill>
          <a:ln/>
        </p:spPr>
      </p:sp>
      <p:sp>
        <p:nvSpPr>
          <p:cNvPr id="24" name="Text 21"/>
          <p:cNvSpPr txBox="1"/>
          <p:nvPr/>
        </p:nvSpPr>
        <p:spPr>
          <a:xfrm>
            <a:off x="4343400" y="382219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5" name="Text 22"/>
          <p:cNvSpPr txBox="1"/>
          <p:nvPr/>
        </p:nvSpPr>
        <p:spPr>
          <a:xfrm>
            <a:off x="5120640" y="3794760"/>
            <a:ext cx="3566160" cy="320040"/>
          </a:xfrm>
          <a:prstGeom prst="rect">
            <a:avLst/>
          </a:prstGeom>
          <a:noFill/>
          <a:ln/>
        </p:spPr>
        <p:txBody>
          <a:bodyPr wrap="square" lIns="0" tIns="0" rIns="0" bIns="0" rtlCol="0" anchor="t"/>
          <a:lstStyle/>
          <a:p>
            <a:pPr indent="0" marL="0">
              <a:buNone/>
            </a:pPr>
            <a:r>
              <a:rPr lang="en-US" sz="1600" b="1" dirty="0">
                <a:solidFill>
                  <a:schemeClr val="tx2"/>
                </a:solidFill>
              </a:rPr>
              <a:t>Interpret the results</a:t>
            </a:r>
            <a:endParaRPr lang="en-US" sz="1600" dirty="0"/>
          </a:p>
        </p:txBody>
      </p:sp>
      <p:sp>
        <p:nvSpPr>
          <p:cNvPr id="26" name="Text 23"/>
          <p:cNvSpPr txBox="1"/>
          <p:nvPr/>
        </p:nvSpPr>
        <p:spPr>
          <a:xfrm>
            <a:off x="5120640" y="4114800"/>
            <a:ext cx="3566160" cy="320040"/>
          </a:xfrm>
          <a:prstGeom prst="rect">
            <a:avLst/>
          </a:prstGeom>
          <a:noFill/>
          <a:ln/>
        </p:spPr>
        <p:txBody>
          <a:bodyPr wrap="square" lIns="0" tIns="0" rIns="0" bIns="0" rtlCol="0" anchor="t"/>
          <a:lstStyle/>
          <a:p>
            <a:pPr indent="0" marL="0">
              <a:buNone/>
            </a:pPr>
            <a:r>
              <a:rPr lang="en-US" sz="1300" dirty="0">
                <a:solidFill>
                  <a:schemeClr val="tx1"/>
                </a:solidFill>
              </a:rPr>
              <a:t>Actual vs predicted, residuals, feature importance.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Dataset Description</a:t>
            </a:r>
            <a:endParaRPr lang="en-US" sz="2800" dirty="0"/>
          </a:p>
        </p:txBody>
      </p:sp>
      <p:sp>
        <p:nvSpPr>
          <p:cNvPr id="3" name="Database circle"/>
          <p:cNvSpPr/>
          <p:nvPr/>
        </p:nvSpPr>
        <p:spPr>
          <a:xfrm>
            <a:off x="8229600" y="347472"/>
            <a:ext cx="457200" cy="457200"/>
          </a:xfrm>
          <a:prstGeom prst="ellipse">
            <a:avLst/>
          </a:prstGeom>
          <a:solidFill>
            <a:schemeClr val="accent1"/>
          </a:solidFill>
          <a:ln/>
        </p:spPr>
      </p:sp>
      <p:pic>
        <p:nvPicPr>
          <p:cNvPr id="4" name="Database icon" descr="Database">    </p:cNvPr>
          <p:cNvPicPr>
            <a:picLocks noChangeAspect="1"/>
          </p:cNvPicPr>
          <p:nvPr/>
        </p:nvPicPr>
        <p:blipFill>
          <a:blip r:embed="rId1"/>
          <a:stretch>
            <a:fillRect/>
          </a:stretch>
        </p:blipFill>
        <p:spPr>
          <a:xfrm>
            <a:off x="8343900" y="461772"/>
            <a:ext cx="228600" cy="228600"/>
          </a:xfrm>
          <a:prstGeom prst="rect">
            <a:avLst/>
          </a:prstGeom>
        </p:spPr>
      </p:pic>
      <p:sp>
        <p:nvSpPr>
          <p:cNvPr id="5" name="Stat card 1"/>
          <p:cNvSpPr/>
          <p:nvPr/>
        </p:nvSpPr>
        <p:spPr>
          <a:xfrm>
            <a:off x="457200" y="1097280"/>
            <a:ext cx="1920240" cy="914400"/>
          </a:xfrm>
          <a:prstGeom prst="roundRect">
            <a:avLst>
              <a:gd name="adj" fmla="val 10000"/>
            </a:avLst>
          </a:prstGeom>
          <a:solidFill>
            <a:schemeClr val="bg2"/>
          </a:solidFill>
          <a:ln/>
        </p:spPr>
      </p:sp>
      <p:sp>
        <p:nvSpPr>
          <p:cNvPr id="6" name="Text 3"/>
          <p:cNvSpPr txBox="1"/>
          <p:nvPr/>
        </p:nvSpPr>
        <p:spPr>
          <a:xfrm>
            <a:off x="548640" y="1161288"/>
            <a:ext cx="1737360" cy="45720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68,778</a:t>
            </a:r>
            <a:endParaRPr lang="en-US" sz="2600" dirty="0"/>
          </a:p>
        </p:txBody>
      </p:sp>
      <p:sp>
        <p:nvSpPr>
          <p:cNvPr id="7" name="Text 4"/>
          <p:cNvSpPr txBox="1"/>
          <p:nvPr/>
        </p:nvSpPr>
        <p:spPr>
          <a:xfrm>
            <a:off x="548640" y="1618488"/>
            <a:ext cx="1737360" cy="320040"/>
          </a:xfrm>
          <a:prstGeom prst="rect">
            <a:avLst/>
          </a:prstGeom>
          <a:noFill/>
          <a:ln/>
        </p:spPr>
        <p:txBody>
          <a:bodyPr wrap="square" lIns="0" tIns="0" rIns="0" bIns="0" rtlCol="0" anchor="t"/>
          <a:lstStyle/>
          <a:p>
            <a:pPr algn="ctr" indent="0" marL="0">
              <a:buNone/>
            </a:pPr>
            <a:r>
              <a:rPr lang="en-US" sz="1100" dirty="0">
                <a:solidFill>
                  <a:schemeClr val="tx1"/>
                </a:solidFill>
              </a:rPr>
              <a:t>generation rows (7 columns)</a:t>
            </a:r>
            <a:endParaRPr lang="en-US" sz="1100" dirty="0"/>
          </a:p>
        </p:txBody>
      </p:sp>
      <p:sp>
        <p:nvSpPr>
          <p:cNvPr id="8" name="Stat card 2"/>
          <p:cNvSpPr/>
          <p:nvPr/>
        </p:nvSpPr>
        <p:spPr>
          <a:xfrm>
            <a:off x="2560320" y="1097280"/>
            <a:ext cx="1920240" cy="914400"/>
          </a:xfrm>
          <a:prstGeom prst="roundRect">
            <a:avLst>
              <a:gd name="adj" fmla="val 10000"/>
            </a:avLst>
          </a:prstGeom>
          <a:solidFill>
            <a:schemeClr val="bg2"/>
          </a:solidFill>
          <a:ln/>
        </p:spPr>
      </p:sp>
      <p:sp>
        <p:nvSpPr>
          <p:cNvPr id="9" name="Text 6"/>
          <p:cNvSpPr txBox="1"/>
          <p:nvPr/>
        </p:nvSpPr>
        <p:spPr>
          <a:xfrm>
            <a:off x="2651760" y="1161288"/>
            <a:ext cx="1737360" cy="45720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3,182</a:t>
            </a:r>
            <a:endParaRPr lang="en-US" sz="2600" dirty="0"/>
          </a:p>
        </p:txBody>
      </p:sp>
      <p:sp>
        <p:nvSpPr>
          <p:cNvPr id="10" name="Text 7"/>
          <p:cNvSpPr txBox="1"/>
          <p:nvPr/>
        </p:nvSpPr>
        <p:spPr>
          <a:xfrm>
            <a:off x="2651760" y="1618488"/>
            <a:ext cx="1737360" cy="320040"/>
          </a:xfrm>
          <a:prstGeom prst="rect">
            <a:avLst/>
          </a:prstGeom>
          <a:noFill/>
          <a:ln/>
        </p:spPr>
        <p:txBody>
          <a:bodyPr wrap="square" lIns="0" tIns="0" rIns="0" bIns="0" rtlCol="0" anchor="t"/>
          <a:lstStyle/>
          <a:p>
            <a:pPr algn="ctr" indent="0" marL="0">
              <a:buNone/>
            </a:pPr>
            <a:r>
              <a:rPr lang="en-US" sz="1100" dirty="0">
                <a:solidFill>
                  <a:schemeClr val="tx1"/>
                </a:solidFill>
              </a:rPr>
              <a:t>weather rows (6 columns)</a:t>
            </a:r>
            <a:endParaRPr lang="en-US" sz="1100" dirty="0"/>
          </a:p>
        </p:txBody>
      </p:sp>
      <p:sp>
        <p:nvSpPr>
          <p:cNvPr id="11" name="Stat card 3"/>
          <p:cNvSpPr/>
          <p:nvPr/>
        </p:nvSpPr>
        <p:spPr>
          <a:xfrm>
            <a:off x="4663440" y="1097280"/>
            <a:ext cx="1920240" cy="914400"/>
          </a:xfrm>
          <a:prstGeom prst="roundRect">
            <a:avLst>
              <a:gd name="adj" fmla="val 10000"/>
            </a:avLst>
          </a:prstGeom>
          <a:solidFill>
            <a:schemeClr val="bg2"/>
          </a:solidFill>
          <a:ln/>
        </p:spPr>
      </p:sp>
      <p:sp>
        <p:nvSpPr>
          <p:cNvPr id="12" name="Text 9"/>
          <p:cNvSpPr txBox="1"/>
          <p:nvPr/>
        </p:nvSpPr>
        <p:spPr>
          <a:xfrm>
            <a:off x="4754880" y="1161288"/>
            <a:ext cx="1737360" cy="45720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34 days</a:t>
            </a:r>
            <a:endParaRPr lang="en-US" sz="2600" dirty="0"/>
          </a:p>
        </p:txBody>
      </p:sp>
      <p:sp>
        <p:nvSpPr>
          <p:cNvPr id="13" name="Text 10"/>
          <p:cNvSpPr txBox="1"/>
          <p:nvPr/>
        </p:nvSpPr>
        <p:spPr>
          <a:xfrm>
            <a:off x="4754880" y="1618488"/>
            <a:ext cx="1737360" cy="320040"/>
          </a:xfrm>
          <a:prstGeom prst="rect">
            <a:avLst/>
          </a:prstGeom>
          <a:noFill/>
          <a:ln/>
        </p:spPr>
        <p:txBody>
          <a:bodyPr wrap="square" lIns="0" tIns="0" rIns="0" bIns="0" rtlCol="0" anchor="t"/>
          <a:lstStyle/>
          <a:p>
            <a:pPr algn="ctr" indent="0" marL="0">
              <a:buNone/>
            </a:pPr>
            <a:r>
              <a:rPr lang="en-US" sz="1100" dirty="0">
                <a:solidFill>
                  <a:schemeClr val="tx1"/>
                </a:solidFill>
              </a:rPr>
              <a:t>15 May – 17 Jun 2020</a:t>
            </a:r>
            <a:endParaRPr lang="en-US" sz="1100" dirty="0"/>
          </a:p>
        </p:txBody>
      </p:sp>
      <p:sp>
        <p:nvSpPr>
          <p:cNvPr id="14" name="Stat card 4"/>
          <p:cNvSpPr/>
          <p:nvPr/>
        </p:nvSpPr>
        <p:spPr>
          <a:xfrm>
            <a:off x="6766560" y="1097280"/>
            <a:ext cx="1920240" cy="914400"/>
          </a:xfrm>
          <a:prstGeom prst="roundRect">
            <a:avLst>
              <a:gd name="adj" fmla="val 10000"/>
            </a:avLst>
          </a:prstGeom>
          <a:solidFill>
            <a:schemeClr val="bg2"/>
          </a:solidFill>
          <a:ln/>
        </p:spPr>
      </p:sp>
      <p:sp>
        <p:nvSpPr>
          <p:cNvPr id="15" name="Text 12"/>
          <p:cNvSpPr txBox="1"/>
          <p:nvPr/>
        </p:nvSpPr>
        <p:spPr>
          <a:xfrm>
            <a:off x="6858000" y="1161288"/>
            <a:ext cx="1737360" cy="45720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15 min</a:t>
            </a:r>
            <a:endParaRPr lang="en-US" sz="2600" dirty="0"/>
          </a:p>
        </p:txBody>
      </p:sp>
      <p:sp>
        <p:nvSpPr>
          <p:cNvPr id="16" name="Text 13"/>
          <p:cNvSpPr txBox="1"/>
          <p:nvPr/>
        </p:nvSpPr>
        <p:spPr>
          <a:xfrm>
            <a:off x="6858000" y="1618488"/>
            <a:ext cx="1737360" cy="320040"/>
          </a:xfrm>
          <a:prstGeom prst="rect">
            <a:avLst/>
          </a:prstGeom>
          <a:noFill/>
          <a:ln/>
        </p:spPr>
        <p:txBody>
          <a:bodyPr wrap="square" lIns="0" tIns="0" rIns="0" bIns="0" rtlCol="0" anchor="t"/>
          <a:lstStyle/>
          <a:p>
            <a:pPr algn="ctr" indent="0" marL="0">
              <a:buNone/>
            </a:pPr>
            <a:r>
              <a:rPr lang="en-US" sz="1100" dirty="0">
                <a:solidFill>
                  <a:schemeClr val="tx1"/>
                </a:solidFill>
              </a:rPr>
              <a:t>reading interval</a:t>
            </a:r>
            <a:endParaRPr lang="en-US" sz="1100" dirty="0"/>
          </a:p>
        </p:txBody>
      </p:sp>
      <p:sp>
        <p:nvSpPr>
          <p:cNvPr id="17" name="Text 14"/>
          <p:cNvSpPr txBox="1"/>
          <p:nvPr/>
        </p:nvSpPr>
        <p:spPr>
          <a:xfrm>
            <a:off x="457200" y="2194560"/>
            <a:ext cx="4023360" cy="228600"/>
          </a:xfrm>
          <a:prstGeom prst="rect">
            <a:avLst/>
          </a:prstGeom>
          <a:noFill/>
          <a:ln/>
        </p:spPr>
        <p:txBody>
          <a:bodyPr wrap="square" lIns="0" tIns="0" rIns="0" bIns="0" rtlCol="0" anchor="t"/>
          <a:lstStyle/>
          <a:p>
            <a:pPr indent="0" marL="0">
              <a:buNone/>
            </a:pPr>
            <a:r>
              <a:rPr lang="en-US" sz="1100" b="1" dirty="0">
                <a:solidFill>
                  <a:schemeClr val="tx2"/>
                </a:solidFill>
              </a:rPr>
              <a:t>Plant_1_Generation_Data.csv  (inverter-level)</a:t>
            </a:r>
            <a:endParaRPr lang="en-US" sz="1100" dirty="0"/>
          </a:p>
        </p:txBody>
      </p:sp>
      <p:sp>
        <p:nvSpPr>
          <p:cNvPr id="18" name="chip DATE_TIME"/>
          <p:cNvSpPr txBox="1"/>
          <p:nvPr/>
        </p:nvSpPr>
        <p:spPr>
          <a:xfrm>
            <a:off x="457200" y="2450592"/>
            <a:ext cx="834847"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DATE_TIME</a:t>
            </a:r>
            <a:endParaRPr lang="en-US" sz="1000" dirty="0"/>
          </a:p>
        </p:txBody>
      </p:sp>
      <p:sp>
        <p:nvSpPr>
          <p:cNvPr id="19" name="chip PLANT_ID"/>
          <p:cNvSpPr txBox="1"/>
          <p:nvPr/>
        </p:nvSpPr>
        <p:spPr>
          <a:xfrm>
            <a:off x="1383487" y="2450592"/>
            <a:ext cx="764438"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PLANT_ID</a:t>
            </a:r>
            <a:endParaRPr lang="en-US" sz="1000" dirty="0"/>
          </a:p>
        </p:txBody>
      </p:sp>
      <p:sp>
        <p:nvSpPr>
          <p:cNvPr id="20" name="chip SOURCE_KEY"/>
          <p:cNvSpPr txBox="1"/>
          <p:nvPr/>
        </p:nvSpPr>
        <p:spPr>
          <a:xfrm>
            <a:off x="2239366" y="2450592"/>
            <a:ext cx="905256"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SOURCE_KEY</a:t>
            </a:r>
            <a:endParaRPr lang="en-US" sz="1000" dirty="0"/>
          </a:p>
        </p:txBody>
      </p:sp>
      <p:sp>
        <p:nvSpPr>
          <p:cNvPr id="21" name="chip DC_POWER"/>
          <p:cNvSpPr txBox="1"/>
          <p:nvPr/>
        </p:nvSpPr>
        <p:spPr>
          <a:xfrm>
            <a:off x="3236062" y="2450592"/>
            <a:ext cx="764438"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DC_POWER</a:t>
            </a:r>
            <a:endParaRPr lang="en-US" sz="1000" dirty="0"/>
          </a:p>
        </p:txBody>
      </p:sp>
      <p:sp>
        <p:nvSpPr>
          <p:cNvPr id="22" name="chip AC_POWER"/>
          <p:cNvSpPr txBox="1"/>
          <p:nvPr/>
        </p:nvSpPr>
        <p:spPr>
          <a:xfrm>
            <a:off x="457200" y="2743200"/>
            <a:ext cx="764438" cy="237744"/>
          </a:xfrm>
          <a:prstGeom prst="roundRect">
            <a:avLst>
              <a:gd name="adj" fmla="val 23077"/>
            </a:avLst>
          </a:prstGeom>
          <a:solidFill>
            <a:schemeClr val="accent1"/>
          </a:solidFill>
          <a:ln/>
        </p:spPr>
        <p:txBody>
          <a:bodyPr wrap="square" lIns="0" tIns="0" rIns="0" bIns="0" rtlCol="0" anchor="ctr"/>
          <a:lstStyle/>
          <a:p>
            <a:pPr algn="ctr" indent="0" marL="0">
              <a:buNone/>
            </a:pPr>
            <a:r>
              <a:rPr lang="en-US" sz="1000" b="1" dirty="0">
                <a:solidFill>
                  <a:schemeClr val="bg1"/>
                </a:solidFill>
              </a:rPr>
              <a:t>AC_POWER</a:t>
            </a:r>
            <a:endParaRPr lang="en-US" sz="1000" dirty="0"/>
          </a:p>
        </p:txBody>
      </p:sp>
      <p:sp>
        <p:nvSpPr>
          <p:cNvPr id="23" name="chip DAILY_YIELD"/>
          <p:cNvSpPr txBox="1"/>
          <p:nvPr/>
        </p:nvSpPr>
        <p:spPr>
          <a:xfrm>
            <a:off x="1313078" y="2743200"/>
            <a:ext cx="975665"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DAILY_YIELD</a:t>
            </a:r>
            <a:endParaRPr lang="en-US" sz="1000" dirty="0"/>
          </a:p>
        </p:txBody>
      </p:sp>
      <p:sp>
        <p:nvSpPr>
          <p:cNvPr id="24" name="chip TOTAL_YIELD"/>
          <p:cNvSpPr txBox="1"/>
          <p:nvPr/>
        </p:nvSpPr>
        <p:spPr>
          <a:xfrm>
            <a:off x="2380183" y="2743200"/>
            <a:ext cx="975665"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TOTAL_YIELD</a:t>
            </a:r>
            <a:endParaRPr lang="en-US" sz="1000" dirty="0"/>
          </a:p>
        </p:txBody>
      </p:sp>
      <p:sp>
        <p:nvSpPr>
          <p:cNvPr id="25" name="Text 22"/>
          <p:cNvSpPr txBox="1"/>
          <p:nvPr/>
        </p:nvSpPr>
        <p:spPr>
          <a:xfrm>
            <a:off x="457200" y="3108960"/>
            <a:ext cx="4023360" cy="228600"/>
          </a:xfrm>
          <a:prstGeom prst="rect">
            <a:avLst/>
          </a:prstGeom>
          <a:noFill/>
          <a:ln/>
        </p:spPr>
        <p:txBody>
          <a:bodyPr wrap="square" lIns="0" tIns="0" rIns="0" bIns="0" rtlCol="0" anchor="t"/>
          <a:lstStyle/>
          <a:p>
            <a:pPr indent="0" marL="0">
              <a:buNone/>
            </a:pPr>
            <a:r>
              <a:rPr lang="en-US" sz="1100" b="1" dirty="0">
                <a:solidFill>
                  <a:schemeClr val="tx2"/>
                </a:solidFill>
              </a:rPr>
              <a:t>Plant_1_Weather_Sensor_Data.csv</a:t>
            </a:r>
            <a:endParaRPr lang="en-US" sz="1100" dirty="0"/>
          </a:p>
        </p:txBody>
      </p:sp>
      <p:sp>
        <p:nvSpPr>
          <p:cNvPr id="26" name="chip DATE_TIME"/>
          <p:cNvSpPr txBox="1"/>
          <p:nvPr/>
        </p:nvSpPr>
        <p:spPr>
          <a:xfrm>
            <a:off x="457200" y="3383280"/>
            <a:ext cx="834847"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DATE_TIME</a:t>
            </a:r>
            <a:endParaRPr lang="en-US" sz="1000" dirty="0"/>
          </a:p>
        </p:txBody>
      </p:sp>
      <p:sp>
        <p:nvSpPr>
          <p:cNvPr id="27" name="chip PLANT_ID"/>
          <p:cNvSpPr txBox="1"/>
          <p:nvPr/>
        </p:nvSpPr>
        <p:spPr>
          <a:xfrm>
            <a:off x="1383487" y="3383280"/>
            <a:ext cx="764438"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PLANT_ID</a:t>
            </a:r>
            <a:endParaRPr lang="en-US" sz="1000" dirty="0"/>
          </a:p>
        </p:txBody>
      </p:sp>
      <p:sp>
        <p:nvSpPr>
          <p:cNvPr id="28" name="chip SOURCE_KEY"/>
          <p:cNvSpPr txBox="1"/>
          <p:nvPr/>
        </p:nvSpPr>
        <p:spPr>
          <a:xfrm>
            <a:off x="2239366" y="3383280"/>
            <a:ext cx="905256" cy="237744"/>
          </a:xfrm>
          <a:prstGeom prst="roundRect">
            <a:avLst>
              <a:gd name="adj" fmla="val 23077"/>
            </a:avLst>
          </a:prstGeom>
          <a:solidFill>
            <a:schemeClr val="bg2"/>
          </a:solidFill>
          <a:ln/>
        </p:spPr>
        <p:txBody>
          <a:bodyPr wrap="square" lIns="0" tIns="0" rIns="0" bIns="0" rtlCol="0" anchor="ctr"/>
          <a:lstStyle/>
          <a:p>
            <a:pPr algn="ctr" indent="0" marL="0">
              <a:buNone/>
            </a:pPr>
            <a:r>
              <a:rPr lang="en-US" sz="1000" b="1" dirty="0">
                <a:solidFill>
                  <a:schemeClr val="tx1"/>
                </a:solidFill>
              </a:rPr>
              <a:t>SOURCE_KEY</a:t>
            </a:r>
            <a:endParaRPr lang="en-US" sz="1000" dirty="0"/>
          </a:p>
        </p:txBody>
      </p:sp>
      <p:sp>
        <p:nvSpPr>
          <p:cNvPr id="29" name="chip AMBIENT_TEMPERATURE"/>
          <p:cNvSpPr txBox="1"/>
          <p:nvPr/>
        </p:nvSpPr>
        <p:spPr>
          <a:xfrm>
            <a:off x="457200" y="3675888"/>
            <a:ext cx="1538935"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AMBIENT_TEMPERATURE</a:t>
            </a:r>
            <a:endParaRPr lang="en-US" sz="1000" dirty="0"/>
          </a:p>
        </p:txBody>
      </p:sp>
      <p:sp>
        <p:nvSpPr>
          <p:cNvPr id="30" name="chip MODULE_TEMPERATURE"/>
          <p:cNvSpPr txBox="1"/>
          <p:nvPr/>
        </p:nvSpPr>
        <p:spPr>
          <a:xfrm>
            <a:off x="2087575" y="3675888"/>
            <a:ext cx="1468526"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MODULE_TEMPERATURE</a:t>
            </a:r>
            <a:endParaRPr lang="en-US" sz="1000" dirty="0"/>
          </a:p>
        </p:txBody>
      </p:sp>
      <p:sp>
        <p:nvSpPr>
          <p:cNvPr id="31" name="chip IRRADIATION"/>
          <p:cNvSpPr txBox="1"/>
          <p:nvPr/>
        </p:nvSpPr>
        <p:spPr>
          <a:xfrm>
            <a:off x="457200" y="3968496"/>
            <a:ext cx="975665"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IRRADIATION</a:t>
            </a:r>
            <a:endParaRPr lang="en-US" sz="1000" dirty="0"/>
          </a:p>
        </p:txBody>
      </p:sp>
      <p:sp>
        <p:nvSpPr>
          <p:cNvPr id="32" name="Legend swatch 1"/>
          <p:cNvSpPr/>
          <p:nvPr/>
        </p:nvSpPr>
        <p:spPr>
          <a:xfrm>
            <a:off x="457200" y="4425696"/>
            <a:ext cx="201168" cy="146304"/>
          </a:xfrm>
          <a:prstGeom prst="roundRect">
            <a:avLst>
              <a:gd name="adj" fmla="val 25000"/>
            </a:avLst>
          </a:prstGeom>
          <a:solidFill>
            <a:schemeClr val="accent1"/>
          </a:solidFill>
          <a:ln w="6350">
            <a:solidFill>
              <a:schemeClr val="accent6"/>
            </a:solidFill>
            <a:prstDash val="solid"/>
          </a:ln>
        </p:spPr>
      </p:sp>
      <p:sp>
        <p:nvSpPr>
          <p:cNvPr id="33" name="Text 30"/>
          <p:cNvSpPr txBox="1"/>
          <p:nvPr/>
        </p:nvSpPr>
        <p:spPr>
          <a:xfrm>
            <a:off x="713232" y="4389120"/>
            <a:ext cx="1828800" cy="228600"/>
          </a:xfrm>
          <a:prstGeom prst="rect">
            <a:avLst/>
          </a:prstGeom>
          <a:noFill/>
          <a:ln/>
        </p:spPr>
        <p:txBody>
          <a:bodyPr wrap="square" lIns="0" tIns="0" rIns="0" bIns="0" rtlCol="0" anchor="ctr"/>
          <a:lstStyle/>
          <a:p>
            <a:pPr indent="0" marL="0">
              <a:buNone/>
            </a:pPr>
            <a:r>
              <a:rPr lang="en-US" sz="1000" dirty="0">
                <a:solidFill>
                  <a:schemeClr val="accent6"/>
                </a:solidFill>
              </a:rPr>
              <a:t>Target</a:t>
            </a:r>
            <a:endParaRPr lang="en-US" sz="1000" dirty="0"/>
          </a:p>
        </p:txBody>
      </p:sp>
      <p:sp>
        <p:nvSpPr>
          <p:cNvPr id="34" name="Legend swatch 2"/>
          <p:cNvSpPr/>
          <p:nvPr/>
        </p:nvSpPr>
        <p:spPr>
          <a:xfrm>
            <a:off x="1234440" y="4425696"/>
            <a:ext cx="201168" cy="146304"/>
          </a:xfrm>
          <a:prstGeom prst="roundRect">
            <a:avLst>
              <a:gd name="adj" fmla="val 25000"/>
            </a:avLst>
          </a:prstGeom>
          <a:solidFill>
            <a:schemeClr val="accent3"/>
          </a:solidFill>
          <a:ln w="6350">
            <a:solidFill>
              <a:schemeClr val="accent6"/>
            </a:solidFill>
            <a:prstDash val="solid"/>
          </a:ln>
        </p:spPr>
      </p:sp>
      <p:sp>
        <p:nvSpPr>
          <p:cNvPr id="35" name="Text 32"/>
          <p:cNvSpPr txBox="1"/>
          <p:nvPr/>
        </p:nvSpPr>
        <p:spPr>
          <a:xfrm>
            <a:off x="1490472" y="4389120"/>
            <a:ext cx="1828800" cy="228600"/>
          </a:xfrm>
          <a:prstGeom prst="rect">
            <a:avLst/>
          </a:prstGeom>
          <a:noFill/>
          <a:ln/>
        </p:spPr>
        <p:txBody>
          <a:bodyPr wrap="square" lIns="0" tIns="0" rIns="0" bIns="0" rtlCol="0" anchor="ctr"/>
          <a:lstStyle/>
          <a:p>
            <a:pPr indent="0" marL="0">
              <a:buNone/>
            </a:pPr>
            <a:r>
              <a:rPr lang="en-US" sz="1000" dirty="0">
                <a:solidFill>
                  <a:schemeClr val="accent6"/>
                </a:solidFill>
              </a:rPr>
              <a:t>Model input / time source</a:t>
            </a:r>
            <a:endParaRPr lang="en-US" sz="1000" dirty="0"/>
          </a:p>
        </p:txBody>
      </p:sp>
      <p:sp>
        <p:nvSpPr>
          <p:cNvPr id="36" name="Legend swatch 3"/>
          <p:cNvSpPr/>
          <p:nvPr/>
        </p:nvSpPr>
        <p:spPr>
          <a:xfrm>
            <a:off x="3200400" y="4425696"/>
            <a:ext cx="201168" cy="146304"/>
          </a:xfrm>
          <a:prstGeom prst="roundRect">
            <a:avLst>
              <a:gd name="adj" fmla="val 25000"/>
            </a:avLst>
          </a:prstGeom>
          <a:solidFill>
            <a:schemeClr val="bg2"/>
          </a:solidFill>
          <a:ln w="6350">
            <a:solidFill>
              <a:schemeClr val="accent6"/>
            </a:solidFill>
            <a:prstDash val="solid"/>
          </a:ln>
        </p:spPr>
      </p:sp>
      <p:sp>
        <p:nvSpPr>
          <p:cNvPr id="37" name="Text 34"/>
          <p:cNvSpPr txBox="1"/>
          <p:nvPr/>
        </p:nvSpPr>
        <p:spPr>
          <a:xfrm>
            <a:off x="3456432" y="4389120"/>
            <a:ext cx="1828800" cy="228600"/>
          </a:xfrm>
          <a:prstGeom prst="rect">
            <a:avLst/>
          </a:prstGeom>
          <a:noFill/>
          <a:ln/>
        </p:spPr>
        <p:txBody>
          <a:bodyPr wrap="square" lIns="0" tIns="0" rIns="0" bIns="0" rtlCol="0" anchor="ctr"/>
          <a:lstStyle/>
          <a:p>
            <a:pPr indent="0" marL="0">
              <a:buNone/>
            </a:pPr>
            <a:r>
              <a:rPr lang="en-US" sz="1000" dirty="0">
                <a:solidFill>
                  <a:schemeClr val="accent6"/>
                </a:solidFill>
              </a:rPr>
              <a:t>Not an input</a:t>
            </a:r>
            <a:endParaRPr lang="en-US" sz="1000" dirty="0"/>
          </a:p>
        </p:txBody>
      </p:sp>
      <p:pic>
        <p:nvPicPr>
          <p:cNvPr id="38" name="EDA plots" descr="Notebook EDA plots: AC power distribution and scatter plots of AC power versus irradiation, ambient temperature and module temperature">    </p:cNvPr>
          <p:cNvPicPr>
            <a:picLocks noChangeAspect="1"/>
          </p:cNvPicPr>
          <p:nvPr/>
        </p:nvPicPr>
        <p:blipFill>
          <a:blip r:embed="rId2"/>
          <a:stretch>
            <a:fillRect/>
          </a:stretch>
        </p:blipFill>
        <p:spPr>
          <a:xfrm>
            <a:off x="4663440" y="2148840"/>
            <a:ext cx="4023360" cy="2465830"/>
          </a:xfrm>
          <a:prstGeom prst="rect">
            <a:avLst/>
          </a:prstGeom>
        </p:spPr>
      </p:pic>
      <p:sp>
        <p:nvSpPr>
          <p:cNvPr id="39" name="Text 35"/>
          <p:cNvSpPr txBox="1"/>
          <p:nvPr/>
        </p:nvSpPr>
        <p:spPr>
          <a:xfrm>
            <a:off x="4663440" y="4608576"/>
            <a:ext cx="4023360" cy="164592"/>
          </a:xfrm>
          <a:prstGeom prst="rect">
            <a:avLst/>
          </a:prstGeom>
          <a:noFill/>
          <a:ln/>
        </p:spPr>
        <p:txBody>
          <a:bodyPr wrap="square" lIns="0" tIns="0" rIns="0" bIns="0" rtlCol="0" anchor="t"/>
          <a:lstStyle/>
          <a:p>
            <a:pPr indent="0" marL="0">
              <a:buNone/>
            </a:pPr>
            <a:r>
              <a:rPr lang="en-US" sz="1000" dirty="0">
                <a:solidFill>
                  <a:schemeClr val="accent6"/>
                </a:solidFill>
              </a:rPr>
              <a:t>Source: Kaggle — Indian Solar Power Generation Data (Plant 1 files only)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Data Understanding and Preprocessing</a:t>
            </a:r>
            <a:endParaRPr lang="en-US" sz="2800" dirty="0"/>
          </a:p>
        </p:txBody>
      </p:sp>
      <p:sp>
        <p:nvSpPr>
          <p:cNvPr id="3" name="Filter circle"/>
          <p:cNvSpPr/>
          <p:nvPr/>
        </p:nvSpPr>
        <p:spPr>
          <a:xfrm>
            <a:off x="8229600" y="347472"/>
            <a:ext cx="457200" cy="457200"/>
          </a:xfrm>
          <a:prstGeom prst="ellipse">
            <a:avLst/>
          </a:prstGeom>
          <a:solidFill>
            <a:schemeClr val="accent1"/>
          </a:solidFill>
          <a:ln/>
        </p:spPr>
      </p:sp>
      <p:pic>
        <p:nvPicPr>
          <p:cNvPr id="4" name="Filter icon" descr="Filter">    </p:cNvPr>
          <p:cNvPicPr>
            <a:picLocks noChangeAspect="1"/>
          </p:cNvPicPr>
          <p:nvPr/>
        </p:nvPicPr>
        <p:blipFill>
          <a:blip r:embed="rId1"/>
          <a:stretch>
            <a:fillRect/>
          </a:stretch>
        </p:blipFill>
        <p:spPr>
          <a:xfrm>
            <a:off x="8343900" y="461772"/>
            <a:ext cx="228600" cy="228600"/>
          </a:xfrm>
          <a:prstGeom prst="rect">
            <a:avLst/>
          </a:prstGeom>
        </p:spPr>
      </p:pic>
      <p:sp>
        <p:nvSpPr>
          <p:cNvPr id="5" name="Step card 1"/>
          <p:cNvSpPr/>
          <p:nvPr/>
        </p:nvSpPr>
        <p:spPr>
          <a:xfrm>
            <a:off x="457200" y="1143000"/>
            <a:ext cx="1920240" cy="2331720"/>
          </a:xfrm>
          <a:prstGeom prst="roundRect">
            <a:avLst>
              <a:gd name="adj" fmla="val 4762"/>
            </a:avLst>
          </a:prstGeom>
          <a:solidFill>
            <a:schemeClr val="bg2"/>
          </a:solidFill>
          <a:ln/>
        </p:spPr>
      </p:sp>
      <p:sp>
        <p:nvSpPr>
          <p:cNvPr id="6" name="1  Validate circle"/>
          <p:cNvSpPr/>
          <p:nvPr/>
        </p:nvSpPr>
        <p:spPr>
          <a:xfrm>
            <a:off x="640080" y="1280160"/>
            <a:ext cx="502920" cy="502920"/>
          </a:xfrm>
          <a:prstGeom prst="ellipse">
            <a:avLst/>
          </a:prstGeom>
          <a:solidFill>
            <a:schemeClr val="accent1"/>
          </a:solidFill>
          <a:ln/>
        </p:spPr>
      </p:sp>
      <p:pic>
        <p:nvPicPr>
          <p:cNvPr id="7" name="1  Validate icon" descr="1  Validate">    </p:cNvPr>
          <p:cNvPicPr>
            <a:picLocks noChangeAspect="1"/>
          </p:cNvPicPr>
          <p:nvPr/>
        </p:nvPicPr>
        <p:blipFill>
          <a:blip r:embed="rId2"/>
          <a:stretch>
            <a:fillRect/>
          </a:stretch>
        </p:blipFill>
        <p:spPr>
          <a:xfrm>
            <a:off x="765810" y="1405890"/>
            <a:ext cx="251460" cy="251460"/>
          </a:xfrm>
          <a:prstGeom prst="rect">
            <a:avLst/>
          </a:prstGeom>
        </p:spPr>
      </p:pic>
      <p:sp>
        <p:nvSpPr>
          <p:cNvPr id="8" name="Text 4"/>
          <p:cNvSpPr txBox="1"/>
          <p:nvPr/>
        </p:nvSpPr>
        <p:spPr>
          <a:xfrm>
            <a:off x="640080" y="1874520"/>
            <a:ext cx="1600200" cy="320040"/>
          </a:xfrm>
          <a:prstGeom prst="rect">
            <a:avLst/>
          </a:prstGeom>
          <a:noFill/>
          <a:ln/>
        </p:spPr>
        <p:txBody>
          <a:bodyPr wrap="square" lIns="0" tIns="0" rIns="0" bIns="0" rtlCol="0" anchor="t"/>
          <a:lstStyle/>
          <a:p>
            <a:pPr indent="0" marL="0">
              <a:buNone/>
            </a:pPr>
            <a:r>
              <a:rPr lang="en-US" sz="1600" b="1" dirty="0">
                <a:solidFill>
                  <a:schemeClr val="tx2"/>
                </a:solidFill>
              </a:rPr>
              <a:t>1  Validate</a:t>
            </a:r>
            <a:endParaRPr lang="en-US" sz="1600" dirty="0"/>
          </a:p>
        </p:txBody>
      </p:sp>
      <p:sp>
        <p:nvSpPr>
          <p:cNvPr id="9" name="Text 5"/>
          <p:cNvSpPr txBox="1"/>
          <p:nvPr/>
        </p:nvSpPr>
        <p:spPr>
          <a:xfrm>
            <a:off x="640080" y="2240280"/>
            <a:ext cx="1600200" cy="1188720"/>
          </a:xfrm>
          <a:prstGeom prst="rect">
            <a:avLst/>
          </a:prstGeom>
          <a:noFill/>
          <a:ln/>
        </p:spPr>
        <p:txBody>
          <a:bodyPr wrap="square" lIns="0" tIns="0" rIns="0" bIns="0" rtlCol="0" anchor="t"/>
          <a:lstStyle/>
          <a:p>
            <a:pPr indent="0" marL="0">
              <a:buNone/>
            </a:pPr>
            <a:r>
              <a:rPr lang="en-US" sz="1200" dirty="0">
                <a:solidFill>
                  <a:schemeClr val="tx1"/>
                </a:solidFill>
              </a:rPr>
              <a:t>Missing values: 0 in every column of both files.</a:t>
            </a:r>
            <a:endParaRPr lang="en-US" sz="1200" dirty="0"/>
          </a:p>
          <a:p>
            <a:pPr indent="0" marL="0">
              <a:buNone/>
            </a:pPr>
            <a:r>
              <a:rPr lang="en-US" sz="1200" dirty="0">
                <a:solidFill>
                  <a:schemeClr val="tx1"/>
                </a:solidFill>
              </a:rPr>
              <a:t>Duplicate rows: 0 in both files.</a:t>
            </a:r>
            <a:endParaRPr lang="en-US" sz="1200" dirty="0"/>
          </a:p>
        </p:txBody>
      </p:sp>
      <p:sp>
        <p:nvSpPr>
          <p:cNvPr id="10" name="Step card 2"/>
          <p:cNvSpPr/>
          <p:nvPr/>
        </p:nvSpPr>
        <p:spPr>
          <a:xfrm>
            <a:off x="2560320" y="1143000"/>
            <a:ext cx="1920240" cy="2331720"/>
          </a:xfrm>
          <a:prstGeom prst="roundRect">
            <a:avLst>
              <a:gd name="adj" fmla="val 4762"/>
            </a:avLst>
          </a:prstGeom>
          <a:solidFill>
            <a:schemeClr val="bg2"/>
          </a:solidFill>
          <a:ln/>
        </p:spPr>
      </p:sp>
      <p:sp>
        <p:nvSpPr>
          <p:cNvPr id="11" name="2  Parse circle"/>
          <p:cNvSpPr/>
          <p:nvPr/>
        </p:nvSpPr>
        <p:spPr>
          <a:xfrm>
            <a:off x="2743200" y="1280160"/>
            <a:ext cx="502920" cy="502920"/>
          </a:xfrm>
          <a:prstGeom prst="ellipse">
            <a:avLst/>
          </a:prstGeom>
          <a:solidFill>
            <a:schemeClr val="accent1"/>
          </a:solidFill>
          <a:ln/>
        </p:spPr>
      </p:sp>
      <p:pic>
        <p:nvPicPr>
          <p:cNvPr id="12" name="2  Parse icon" descr="2  Parse">    </p:cNvPr>
          <p:cNvPicPr>
            <a:picLocks noChangeAspect="1"/>
          </p:cNvPicPr>
          <p:nvPr/>
        </p:nvPicPr>
        <p:blipFill>
          <a:blip r:embed="rId3"/>
          <a:stretch>
            <a:fillRect/>
          </a:stretch>
        </p:blipFill>
        <p:spPr>
          <a:xfrm>
            <a:off x="2868930" y="1405890"/>
            <a:ext cx="251460" cy="251460"/>
          </a:xfrm>
          <a:prstGeom prst="rect">
            <a:avLst/>
          </a:prstGeom>
        </p:spPr>
      </p:pic>
      <p:sp>
        <p:nvSpPr>
          <p:cNvPr id="13" name="Text 8"/>
          <p:cNvSpPr txBox="1"/>
          <p:nvPr/>
        </p:nvSpPr>
        <p:spPr>
          <a:xfrm>
            <a:off x="2743200" y="1874520"/>
            <a:ext cx="1600200" cy="320040"/>
          </a:xfrm>
          <a:prstGeom prst="rect">
            <a:avLst/>
          </a:prstGeom>
          <a:noFill/>
          <a:ln/>
        </p:spPr>
        <p:txBody>
          <a:bodyPr wrap="square" lIns="0" tIns="0" rIns="0" bIns="0" rtlCol="0" anchor="t"/>
          <a:lstStyle/>
          <a:p>
            <a:pPr indent="0" marL="0">
              <a:buNone/>
            </a:pPr>
            <a:r>
              <a:rPr lang="en-US" sz="1600" b="1" dirty="0">
                <a:solidFill>
                  <a:schemeClr val="tx2"/>
                </a:solidFill>
              </a:rPr>
              <a:t>2  Parse</a:t>
            </a:r>
            <a:endParaRPr lang="en-US" sz="1600" dirty="0"/>
          </a:p>
        </p:txBody>
      </p:sp>
      <p:sp>
        <p:nvSpPr>
          <p:cNvPr id="14" name="Text 9"/>
          <p:cNvSpPr txBox="1"/>
          <p:nvPr/>
        </p:nvSpPr>
        <p:spPr>
          <a:xfrm>
            <a:off x="2743200" y="2240280"/>
            <a:ext cx="1600200" cy="1188720"/>
          </a:xfrm>
          <a:prstGeom prst="rect">
            <a:avLst/>
          </a:prstGeom>
          <a:noFill/>
          <a:ln/>
        </p:spPr>
        <p:txBody>
          <a:bodyPr wrap="square" lIns="0" tIns="0" rIns="0" bIns="0" rtlCol="0" anchor="t"/>
          <a:lstStyle/>
          <a:p>
            <a:pPr indent="0" marL="0">
              <a:buNone/>
            </a:pPr>
            <a:r>
              <a:rPr lang="en-US" sz="1200" dirty="0">
                <a:solidFill>
                  <a:schemeClr val="tx1"/>
                </a:solidFill>
              </a:rPr>
              <a:t>DATE_TIME converted to datetime; power and weather columns coerced to numeric.</a:t>
            </a:r>
            <a:endParaRPr lang="en-US" sz="1200" dirty="0"/>
          </a:p>
        </p:txBody>
      </p:sp>
      <p:sp>
        <p:nvSpPr>
          <p:cNvPr id="15" name="Step card 3"/>
          <p:cNvSpPr/>
          <p:nvPr/>
        </p:nvSpPr>
        <p:spPr>
          <a:xfrm>
            <a:off x="4663440" y="1143000"/>
            <a:ext cx="1920240" cy="2331720"/>
          </a:xfrm>
          <a:prstGeom prst="roundRect">
            <a:avLst>
              <a:gd name="adj" fmla="val 4762"/>
            </a:avLst>
          </a:prstGeom>
          <a:solidFill>
            <a:schemeClr val="bg2"/>
          </a:solidFill>
          <a:ln/>
        </p:spPr>
      </p:sp>
      <p:sp>
        <p:nvSpPr>
          <p:cNvPr id="16" name="3  Aggregate circle"/>
          <p:cNvSpPr/>
          <p:nvPr/>
        </p:nvSpPr>
        <p:spPr>
          <a:xfrm>
            <a:off x="4846320" y="1280160"/>
            <a:ext cx="502920" cy="502920"/>
          </a:xfrm>
          <a:prstGeom prst="ellipse">
            <a:avLst/>
          </a:prstGeom>
          <a:solidFill>
            <a:schemeClr val="accent1"/>
          </a:solidFill>
          <a:ln/>
        </p:spPr>
      </p:sp>
      <p:pic>
        <p:nvPicPr>
          <p:cNvPr id="17" name="3  Aggregate icon" descr="3  Aggregate">    </p:cNvPr>
          <p:cNvPicPr>
            <a:picLocks noChangeAspect="1"/>
          </p:cNvPicPr>
          <p:nvPr/>
        </p:nvPicPr>
        <p:blipFill>
          <a:blip r:embed="rId4"/>
          <a:stretch>
            <a:fillRect/>
          </a:stretch>
        </p:blipFill>
        <p:spPr>
          <a:xfrm>
            <a:off x="4972050" y="1405890"/>
            <a:ext cx="251460" cy="251460"/>
          </a:xfrm>
          <a:prstGeom prst="rect">
            <a:avLst/>
          </a:prstGeom>
        </p:spPr>
      </p:pic>
      <p:sp>
        <p:nvSpPr>
          <p:cNvPr id="18" name="Text 12"/>
          <p:cNvSpPr txBox="1"/>
          <p:nvPr/>
        </p:nvSpPr>
        <p:spPr>
          <a:xfrm>
            <a:off x="4846320" y="1874520"/>
            <a:ext cx="1600200" cy="320040"/>
          </a:xfrm>
          <a:prstGeom prst="rect">
            <a:avLst/>
          </a:prstGeom>
          <a:noFill/>
          <a:ln/>
        </p:spPr>
        <p:txBody>
          <a:bodyPr wrap="square" lIns="0" tIns="0" rIns="0" bIns="0" rtlCol="0" anchor="t"/>
          <a:lstStyle/>
          <a:p>
            <a:pPr indent="0" marL="0">
              <a:buNone/>
            </a:pPr>
            <a:r>
              <a:rPr lang="en-US" sz="1600" b="1" dirty="0">
                <a:solidFill>
                  <a:schemeClr val="tx2"/>
                </a:solidFill>
              </a:rPr>
              <a:t>3  Aggregate</a:t>
            </a:r>
            <a:endParaRPr lang="en-US" sz="1600" dirty="0"/>
          </a:p>
        </p:txBody>
      </p:sp>
      <p:sp>
        <p:nvSpPr>
          <p:cNvPr id="19" name="Text 13"/>
          <p:cNvSpPr txBox="1"/>
          <p:nvPr/>
        </p:nvSpPr>
        <p:spPr>
          <a:xfrm>
            <a:off x="4846320" y="2240280"/>
            <a:ext cx="1600200" cy="1188720"/>
          </a:xfrm>
          <a:prstGeom prst="rect">
            <a:avLst/>
          </a:prstGeom>
          <a:noFill/>
          <a:ln/>
        </p:spPr>
        <p:txBody>
          <a:bodyPr wrap="square" lIns="0" tIns="0" rIns="0" bIns="0" rtlCol="0" anchor="t"/>
          <a:lstStyle/>
          <a:p>
            <a:pPr indent="0" marL="0">
              <a:buNone/>
            </a:pPr>
            <a:r>
              <a:rPr lang="en-US" sz="1200" dirty="0">
                <a:solidFill>
                  <a:schemeClr val="tx1"/>
                </a:solidFill>
              </a:rPr>
              <a:t>AC_POWER summed across inverters per timestamp. Weather averaged per timestamp.</a:t>
            </a:r>
            <a:endParaRPr lang="en-US" sz="1200" dirty="0"/>
          </a:p>
        </p:txBody>
      </p:sp>
      <p:sp>
        <p:nvSpPr>
          <p:cNvPr id="20" name="Step card 4"/>
          <p:cNvSpPr/>
          <p:nvPr/>
        </p:nvSpPr>
        <p:spPr>
          <a:xfrm>
            <a:off x="6766560" y="1143000"/>
            <a:ext cx="1920240" cy="2331720"/>
          </a:xfrm>
          <a:prstGeom prst="roundRect">
            <a:avLst>
              <a:gd name="adj" fmla="val 4762"/>
            </a:avLst>
          </a:prstGeom>
          <a:solidFill>
            <a:schemeClr val="bg2"/>
          </a:solidFill>
          <a:ln/>
        </p:spPr>
      </p:sp>
      <p:sp>
        <p:nvSpPr>
          <p:cNvPr id="21" name="4  Merge circle"/>
          <p:cNvSpPr/>
          <p:nvPr/>
        </p:nvSpPr>
        <p:spPr>
          <a:xfrm>
            <a:off x="6949440" y="1280160"/>
            <a:ext cx="502920" cy="502920"/>
          </a:xfrm>
          <a:prstGeom prst="ellipse">
            <a:avLst/>
          </a:prstGeom>
          <a:solidFill>
            <a:schemeClr val="accent1"/>
          </a:solidFill>
          <a:ln/>
        </p:spPr>
      </p:sp>
      <p:pic>
        <p:nvPicPr>
          <p:cNvPr id="22" name="4  Merge icon" descr="4  Merge">    </p:cNvPr>
          <p:cNvPicPr>
            <a:picLocks noChangeAspect="1"/>
          </p:cNvPicPr>
          <p:nvPr/>
        </p:nvPicPr>
        <p:blipFill>
          <a:blip r:embed="rId5"/>
          <a:stretch>
            <a:fillRect/>
          </a:stretch>
        </p:blipFill>
        <p:spPr>
          <a:xfrm>
            <a:off x="7075170" y="1405890"/>
            <a:ext cx="251460" cy="251460"/>
          </a:xfrm>
          <a:prstGeom prst="rect">
            <a:avLst/>
          </a:prstGeom>
        </p:spPr>
      </p:pic>
      <p:sp>
        <p:nvSpPr>
          <p:cNvPr id="23" name="Text 16"/>
          <p:cNvSpPr txBox="1"/>
          <p:nvPr/>
        </p:nvSpPr>
        <p:spPr>
          <a:xfrm>
            <a:off x="6949440" y="1874520"/>
            <a:ext cx="1600200" cy="320040"/>
          </a:xfrm>
          <a:prstGeom prst="rect">
            <a:avLst/>
          </a:prstGeom>
          <a:noFill/>
          <a:ln/>
        </p:spPr>
        <p:txBody>
          <a:bodyPr wrap="square" lIns="0" tIns="0" rIns="0" bIns="0" rtlCol="0" anchor="t"/>
          <a:lstStyle/>
          <a:p>
            <a:pPr indent="0" marL="0">
              <a:buNone/>
            </a:pPr>
            <a:r>
              <a:rPr lang="en-US" sz="1600" b="1" dirty="0">
                <a:solidFill>
                  <a:schemeClr val="tx2"/>
                </a:solidFill>
              </a:rPr>
              <a:t>4  Merge</a:t>
            </a:r>
            <a:endParaRPr lang="en-US" sz="1600" dirty="0"/>
          </a:p>
        </p:txBody>
      </p:sp>
      <p:sp>
        <p:nvSpPr>
          <p:cNvPr id="24" name="Text 17"/>
          <p:cNvSpPr txBox="1"/>
          <p:nvPr/>
        </p:nvSpPr>
        <p:spPr>
          <a:xfrm>
            <a:off x="6949440" y="2240280"/>
            <a:ext cx="1600200" cy="1188720"/>
          </a:xfrm>
          <a:prstGeom prst="rect">
            <a:avLst/>
          </a:prstGeom>
          <a:noFill/>
          <a:ln/>
        </p:spPr>
        <p:txBody>
          <a:bodyPr wrap="square" lIns="0" tIns="0" rIns="0" bIns="0" rtlCol="0" anchor="t"/>
          <a:lstStyle/>
          <a:p>
            <a:pPr indent="0" marL="0">
              <a:buNone/>
            </a:pPr>
            <a:r>
              <a:rPr lang="en-US" sz="1200" dirty="0">
                <a:solidFill>
                  <a:schemeClr val="tx1"/>
                </a:solidFill>
              </a:rPr>
              <a:t>Inner join on PLANT_ID + DATE_TIME, validated one-to-one.</a:t>
            </a:r>
            <a:endParaRPr lang="en-US" sz="1200" dirty="0"/>
          </a:p>
        </p:txBody>
      </p:sp>
      <p:sp>
        <p:nvSpPr>
          <p:cNvPr id="25" name="Text 18"/>
          <p:cNvSpPr txBox="1"/>
          <p:nvPr/>
        </p:nvSpPr>
        <p:spPr>
          <a:xfrm>
            <a:off x="457200" y="3657600"/>
            <a:ext cx="45720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ROW COUNT THROUGH THE PIPELINE</a:t>
            </a:r>
            <a:endParaRPr lang="en-US" sz="1100" dirty="0"/>
          </a:p>
        </p:txBody>
      </p:sp>
      <p:sp>
        <p:nvSpPr>
          <p:cNvPr id="26" name="Flow box 1"/>
          <p:cNvSpPr/>
          <p:nvPr/>
        </p:nvSpPr>
        <p:spPr>
          <a:xfrm>
            <a:off x="457200" y="3931920"/>
            <a:ext cx="2377440" cy="685800"/>
          </a:xfrm>
          <a:prstGeom prst="roundRect">
            <a:avLst>
              <a:gd name="adj" fmla="val 10667"/>
            </a:avLst>
          </a:prstGeom>
          <a:solidFill>
            <a:schemeClr val="tx2"/>
          </a:solidFill>
          <a:ln/>
        </p:spPr>
      </p:sp>
      <p:sp>
        <p:nvSpPr>
          <p:cNvPr id="27" name="Text 20"/>
          <p:cNvSpPr txBox="1"/>
          <p:nvPr/>
        </p:nvSpPr>
        <p:spPr>
          <a:xfrm>
            <a:off x="566928" y="3931920"/>
            <a:ext cx="868680" cy="6858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68,778</a:t>
            </a:r>
            <a:endParaRPr lang="en-US" sz="2000" dirty="0"/>
          </a:p>
        </p:txBody>
      </p:sp>
      <p:sp>
        <p:nvSpPr>
          <p:cNvPr id="28" name="Text 21"/>
          <p:cNvSpPr txBox="1"/>
          <p:nvPr/>
        </p:nvSpPr>
        <p:spPr>
          <a:xfrm>
            <a:off x="1417320" y="3931920"/>
            <a:ext cx="1325880" cy="685800"/>
          </a:xfrm>
          <a:prstGeom prst="rect">
            <a:avLst/>
          </a:prstGeom>
          <a:noFill/>
          <a:ln/>
        </p:spPr>
        <p:txBody>
          <a:bodyPr wrap="square" lIns="0" tIns="0" rIns="0" bIns="0" rtlCol="0" anchor="ctr"/>
          <a:lstStyle/>
          <a:p>
            <a:pPr indent="0" marL="0">
              <a:buNone/>
            </a:pPr>
            <a:r>
              <a:rPr lang="en-US" sz="1100" dirty="0">
                <a:solidFill>
                  <a:schemeClr val="bg1"/>
                </a:solidFill>
              </a:rPr>
              <a:t>inverter-level generation rows</a:t>
            </a:r>
            <a:endParaRPr lang="en-US" sz="1100" dirty="0"/>
          </a:p>
        </p:txBody>
      </p:sp>
      <p:sp>
        <p:nvSpPr>
          <p:cNvPr id="29" name="Flow arrow 1"/>
          <p:cNvSpPr/>
          <p:nvPr/>
        </p:nvSpPr>
        <p:spPr>
          <a:xfrm>
            <a:off x="2898648" y="4114800"/>
            <a:ext cx="329184" cy="320040"/>
          </a:xfrm>
          <a:prstGeom prst="rightArrow">
            <a:avLst/>
          </a:prstGeom>
          <a:solidFill>
            <a:schemeClr val="accent3"/>
          </a:solidFill>
          <a:ln/>
        </p:spPr>
      </p:sp>
      <p:sp>
        <p:nvSpPr>
          <p:cNvPr id="30" name="Flow box 2"/>
          <p:cNvSpPr/>
          <p:nvPr/>
        </p:nvSpPr>
        <p:spPr>
          <a:xfrm>
            <a:off x="3291840" y="3931920"/>
            <a:ext cx="2377440" cy="685800"/>
          </a:xfrm>
          <a:prstGeom prst="roundRect">
            <a:avLst>
              <a:gd name="adj" fmla="val 10667"/>
            </a:avLst>
          </a:prstGeom>
          <a:solidFill>
            <a:schemeClr val="tx2"/>
          </a:solidFill>
          <a:ln/>
        </p:spPr>
      </p:sp>
      <p:sp>
        <p:nvSpPr>
          <p:cNvPr id="31" name="Text 24"/>
          <p:cNvSpPr txBox="1"/>
          <p:nvPr/>
        </p:nvSpPr>
        <p:spPr>
          <a:xfrm>
            <a:off x="3401568" y="3931920"/>
            <a:ext cx="868680" cy="6858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3,158</a:t>
            </a:r>
            <a:endParaRPr lang="en-US" sz="2000" dirty="0"/>
          </a:p>
        </p:txBody>
      </p:sp>
      <p:sp>
        <p:nvSpPr>
          <p:cNvPr id="32" name="Text 25"/>
          <p:cNvSpPr txBox="1"/>
          <p:nvPr/>
        </p:nvSpPr>
        <p:spPr>
          <a:xfrm>
            <a:off x="4251960" y="3931920"/>
            <a:ext cx="1325880" cy="685800"/>
          </a:xfrm>
          <a:prstGeom prst="rect">
            <a:avLst/>
          </a:prstGeom>
          <a:noFill/>
          <a:ln/>
        </p:spPr>
        <p:txBody>
          <a:bodyPr wrap="square" lIns="0" tIns="0" rIns="0" bIns="0" rtlCol="0" anchor="ctr"/>
          <a:lstStyle/>
          <a:p>
            <a:pPr indent="0" marL="0">
              <a:buNone/>
            </a:pPr>
            <a:r>
              <a:rPr lang="en-US" sz="1100" dirty="0">
                <a:solidFill>
                  <a:schemeClr val="bg1"/>
                </a:solidFill>
              </a:rPr>
              <a:t>plant-level timestamps</a:t>
            </a:r>
            <a:endParaRPr lang="en-US" sz="1100" dirty="0"/>
          </a:p>
        </p:txBody>
      </p:sp>
      <p:sp>
        <p:nvSpPr>
          <p:cNvPr id="33" name="Flow arrow 2"/>
          <p:cNvSpPr/>
          <p:nvPr/>
        </p:nvSpPr>
        <p:spPr>
          <a:xfrm>
            <a:off x="5733288" y="4114800"/>
            <a:ext cx="329184" cy="320040"/>
          </a:xfrm>
          <a:prstGeom prst="rightArrow">
            <a:avLst/>
          </a:prstGeom>
          <a:solidFill>
            <a:schemeClr val="accent3"/>
          </a:solidFill>
          <a:ln/>
        </p:spPr>
      </p:sp>
      <p:sp>
        <p:nvSpPr>
          <p:cNvPr id="34" name="Flow box 3"/>
          <p:cNvSpPr/>
          <p:nvPr/>
        </p:nvSpPr>
        <p:spPr>
          <a:xfrm>
            <a:off x="6126480" y="3931920"/>
            <a:ext cx="2377440" cy="685800"/>
          </a:xfrm>
          <a:prstGeom prst="roundRect">
            <a:avLst>
              <a:gd name="adj" fmla="val 10667"/>
            </a:avLst>
          </a:prstGeom>
          <a:solidFill>
            <a:schemeClr val="accent1"/>
          </a:solidFill>
          <a:ln/>
        </p:spPr>
      </p:sp>
      <p:sp>
        <p:nvSpPr>
          <p:cNvPr id="35" name="Text 28"/>
          <p:cNvSpPr txBox="1"/>
          <p:nvPr/>
        </p:nvSpPr>
        <p:spPr>
          <a:xfrm>
            <a:off x="6236208" y="3931920"/>
            <a:ext cx="868680" cy="6858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3,157</a:t>
            </a:r>
            <a:endParaRPr lang="en-US" sz="2000" dirty="0"/>
          </a:p>
        </p:txBody>
      </p:sp>
      <p:sp>
        <p:nvSpPr>
          <p:cNvPr id="36" name="Text 29"/>
          <p:cNvSpPr txBox="1"/>
          <p:nvPr/>
        </p:nvSpPr>
        <p:spPr>
          <a:xfrm>
            <a:off x="7086600" y="3931920"/>
            <a:ext cx="1325880" cy="685800"/>
          </a:xfrm>
          <a:prstGeom prst="rect">
            <a:avLst/>
          </a:prstGeom>
          <a:noFill/>
          <a:ln/>
        </p:spPr>
        <p:txBody>
          <a:bodyPr wrap="square" lIns="0" tIns="0" rIns="0" bIns="0" rtlCol="0" anchor="ctr"/>
          <a:lstStyle/>
          <a:p>
            <a:pPr indent="0" marL="0">
              <a:buNone/>
            </a:pPr>
            <a:r>
              <a:rPr lang="en-US" sz="1100" dirty="0">
                <a:solidFill>
                  <a:schemeClr val="bg1"/>
                </a:solidFill>
              </a:rPr>
              <a:t>merged rows used for modelling</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KDD Workflow</a:t>
            </a:r>
            <a:endParaRPr lang="en-US" sz="2800" dirty="0"/>
          </a:p>
        </p:txBody>
      </p:sp>
      <p:sp>
        <p:nvSpPr>
          <p:cNvPr id="3" name="Workflow circle"/>
          <p:cNvSpPr/>
          <p:nvPr/>
        </p:nvSpPr>
        <p:spPr>
          <a:xfrm>
            <a:off x="8229600" y="347472"/>
            <a:ext cx="457200" cy="457200"/>
          </a:xfrm>
          <a:prstGeom prst="ellipse">
            <a:avLst/>
          </a:prstGeom>
          <a:solidFill>
            <a:schemeClr val="accent1"/>
          </a:solidFill>
          <a:ln/>
        </p:spPr>
      </p:sp>
      <p:pic>
        <p:nvPicPr>
          <p:cNvPr id="4" name="Workflow icon" descr="Workflow">    </p:cNvPr>
          <p:cNvPicPr>
            <a:picLocks noChangeAspect="1"/>
          </p:cNvPicPr>
          <p:nvPr/>
        </p:nvPicPr>
        <p:blipFill>
          <a:blip r:embed="rId1"/>
          <a:stretch>
            <a:fillRect/>
          </a:stretch>
        </p:blipFill>
        <p:spPr>
          <a:xfrm>
            <a:off x="8343900" y="461772"/>
            <a:ext cx="228600" cy="228600"/>
          </a:xfrm>
          <a:prstGeom prst="rect">
            <a:avLst/>
          </a:prstGeom>
        </p:spPr>
      </p:pic>
      <p:sp>
        <p:nvSpPr>
          <p:cNvPr id="5" name="KDD stage 1"/>
          <p:cNvSpPr/>
          <p:nvPr/>
        </p:nvSpPr>
        <p:spPr>
          <a:xfrm>
            <a:off x="679269" y="1280160"/>
            <a:ext cx="731520" cy="731520"/>
          </a:xfrm>
          <a:prstGeom prst="ellipse">
            <a:avLst/>
          </a:prstGeom>
          <a:solidFill>
            <a:schemeClr val="accent2"/>
          </a:solidFill>
          <a:ln/>
        </p:spPr>
      </p:sp>
      <p:pic>
        <p:nvPicPr>
          <p:cNvPr id="6" name="KDD icon 1" descr="Data Selection">    </p:cNvPr>
          <p:cNvPicPr>
            <a:picLocks noChangeAspect="1"/>
          </p:cNvPicPr>
          <p:nvPr/>
        </p:nvPicPr>
        <p:blipFill>
          <a:blip r:embed="rId2"/>
          <a:stretch>
            <a:fillRect/>
          </a:stretch>
        </p:blipFill>
        <p:spPr>
          <a:xfrm>
            <a:off x="862149" y="1463040"/>
            <a:ext cx="365760" cy="365760"/>
          </a:xfrm>
          <a:prstGeom prst="rect">
            <a:avLst/>
          </a:prstGeom>
        </p:spPr>
      </p:pic>
      <p:sp>
        <p:nvSpPr>
          <p:cNvPr id="7" name="KDD number 1"/>
          <p:cNvSpPr txBox="1"/>
          <p:nvPr/>
        </p:nvSpPr>
        <p:spPr>
          <a:xfrm>
            <a:off x="1136469"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8" name="KDD arrow 1"/>
          <p:cNvSpPr/>
          <p:nvPr/>
        </p:nvSpPr>
        <p:spPr>
          <a:xfrm>
            <a:off x="1447365" y="1645920"/>
            <a:ext cx="370985" cy="0"/>
          </a:xfrm>
          <a:prstGeom prst="line">
            <a:avLst/>
          </a:prstGeom>
          <a:noFill/>
          <a:ln w="19050">
            <a:solidFill>
              <a:schemeClr val="accent6"/>
            </a:solidFill>
            <a:prstDash val="solid"/>
            <a:tailEnd type="triangle"/>
          </a:ln>
        </p:spPr>
      </p:sp>
      <p:sp>
        <p:nvSpPr>
          <p:cNvPr id="9" name="Text 5"/>
          <p:cNvSpPr txBox="1"/>
          <p:nvPr/>
        </p:nvSpPr>
        <p:spPr>
          <a:xfrm>
            <a:off x="457200"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Data Selection</a:t>
            </a:r>
            <a:endParaRPr lang="en-US" sz="1200" dirty="0"/>
          </a:p>
        </p:txBody>
      </p:sp>
      <p:sp>
        <p:nvSpPr>
          <p:cNvPr id="10" name="Text 6"/>
          <p:cNvSpPr txBox="1"/>
          <p:nvPr/>
        </p:nvSpPr>
        <p:spPr>
          <a:xfrm>
            <a:off x="493776"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Plant 1 generation and weather files</a:t>
            </a:r>
            <a:endParaRPr lang="en-US" sz="1100" dirty="0"/>
          </a:p>
        </p:txBody>
      </p:sp>
      <p:sp>
        <p:nvSpPr>
          <p:cNvPr id="11" name="KDD stage 2"/>
          <p:cNvSpPr/>
          <p:nvPr/>
        </p:nvSpPr>
        <p:spPr>
          <a:xfrm>
            <a:off x="1854926" y="1280160"/>
            <a:ext cx="731520" cy="731520"/>
          </a:xfrm>
          <a:prstGeom prst="ellipse">
            <a:avLst/>
          </a:prstGeom>
          <a:solidFill>
            <a:schemeClr val="accent2"/>
          </a:solidFill>
          <a:ln/>
        </p:spPr>
      </p:sp>
      <p:pic>
        <p:nvPicPr>
          <p:cNvPr id="12" name="KDD icon 2" descr="Data Understanding">    </p:cNvPr>
          <p:cNvPicPr>
            <a:picLocks noChangeAspect="1"/>
          </p:cNvPicPr>
          <p:nvPr/>
        </p:nvPicPr>
        <p:blipFill>
          <a:blip r:embed="rId3"/>
          <a:stretch>
            <a:fillRect/>
          </a:stretch>
        </p:blipFill>
        <p:spPr>
          <a:xfrm>
            <a:off x="2037806" y="1463040"/>
            <a:ext cx="365760" cy="365760"/>
          </a:xfrm>
          <a:prstGeom prst="rect">
            <a:avLst/>
          </a:prstGeom>
        </p:spPr>
      </p:pic>
      <p:sp>
        <p:nvSpPr>
          <p:cNvPr id="13" name="KDD number 2"/>
          <p:cNvSpPr txBox="1"/>
          <p:nvPr/>
        </p:nvSpPr>
        <p:spPr>
          <a:xfrm>
            <a:off x="2312126"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14" name="KDD arrow 2"/>
          <p:cNvSpPr/>
          <p:nvPr/>
        </p:nvSpPr>
        <p:spPr>
          <a:xfrm>
            <a:off x="2623022" y="1645920"/>
            <a:ext cx="370985" cy="0"/>
          </a:xfrm>
          <a:prstGeom prst="line">
            <a:avLst/>
          </a:prstGeom>
          <a:noFill/>
          <a:ln w="19050">
            <a:solidFill>
              <a:schemeClr val="accent6"/>
            </a:solidFill>
            <a:prstDash val="solid"/>
            <a:tailEnd type="triangle"/>
          </a:ln>
        </p:spPr>
      </p:sp>
      <p:sp>
        <p:nvSpPr>
          <p:cNvPr id="15" name="Text 10"/>
          <p:cNvSpPr txBox="1"/>
          <p:nvPr/>
        </p:nvSpPr>
        <p:spPr>
          <a:xfrm>
            <a:off x="1632857"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Data Understanding</a:t>
            </a:r>
            <a:endParaRPr lang="en-US" sz="1200" dirty="0"/>
          </a:p>
        </p:txBody>
      </p:sp>
      <p:sp>
        <p:nvSpPr>
          <p:cNvPr id="16" name="Text 11"/>
          <p:cNvSpPr txBox="1"/>
          <p:nvPr/>
        </p:nvSpPr>
        <p:spPr>
          <a:xfrm>
            <a:off x="1669433"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Columns, types, missing values, duplicates</a:t>
            </a:r>
            <a:endParaRPr lang="en-US" sz="1100" dirty="0"/>
          </a:p>
        </p:txBody>
      </p:sp>
      <p:sp>
        <p:nvSpPr>
          <p:cNvPr id="17" name="KDD stage 3"/>
          <p:cNvSpPr/>
          <p:nvPr/>
        </p:nvSpPr>
        <p:spPr>
          <a:xfrm>
            <a:off x="3030583" y="1280160"/>
            <a:ext cx="731520" cy="731520"/>
          </a:xfrm>
          <a:prstGeom prst="ellipse">
            <a:avLst/>
          </a:prstGeom>
          <a:solidFill>
            <a:schemeClr val="accent2"/>
          </a:solidFill>
          <a:ln/>
        </p:spPr>
      </p:sp>
      <p:pic>
        <p:nvPicPr>
          <p:cNvPr id="18" name="KDD icon 3" descr="Pre-processing">    </p:cNvPr>
          <p:cNvPicPr>
            <a:picLocks noChangeAspect="1"/>
          </p:cNvPicPr>
          <p:nvPr/>
        </p:nvPicPr>
        <p:blipFill>
          <a:blip r:embed="rId4"/>
          <a:stretch>
            <a:fillRect/>
          </a:stretch>
        </p:blipFill>
        <p:spPr>
          <a:xfrm>
            <a:off x="3213463" y="1463040"/>
            <a:ext cx="365760" cy="365760"/>
          </a:xfrm>
          <a:prstGeom prst="rect">
            <a:avLst/>
          </a:prstGeom>
        </p:spPr>
      </p:pic>
      <p:sp>
        <p:nvSpPr>
          <p:cNvPr id="19" name="KDD number 3"/>
          <p:cNvSpPr txBox="1"/>
          <p:nvPr/>
        </p:nvSpPr>
        <p:spPr>
          <a:xfrm>
            <a:off x="3487783"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20" name="KDD arrow 3"/>
          <p:cNvSpPr/>
          <p:nvPr/>
        </p:nvSpPr>
        <p:spPr>
          <a:xfrm>
            <a:off x="3798679" y="1645920"/>
            <a:ext cx="370985" cy="0"/>
          </a:xfrm>
          <a:prstGeom prst="line">
            <a:avLst/>
          </a:prstGeom>
          <a:noFill/>
          <a:ln w="19050">
            <a:solidFill>
              <a:schemeClr val="accent6"/>
            </a:solidFill>
            <a:prstDash val="solid"/>
            <a:tailEnd type="triangle"/>
          </a:ln>
        </p:spPr>
      </p:sp>
      <p:sp>
        <p:nvSpPr>
          <p:cNvPr id="21" name="Text 15"/>
          <p:cNvSpPr txBox="1"/>
          <p:nvPr/>
        </p:nvSpPr>
        <p:spPr>
          <a:xfrm>
            <a:off x="2808514"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Pre-processing</a:t>
            </a:r>
            <a:endParaRPr lang="en-US" sz="1200" dirty="0"/>
          </a:p>
        </p:txBody>
      </p:sp>
      <p:sp>
        <p:nvSpPr>
          <p:cNvPr id="22" name="Text 16"/>
          <p:cNvSpPr txBox="1"/>
          <p:nvPr/>
        </p:nvSpPr>
        <p:spPr>
          <a:xfrm>
            <a:off x="2845090"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Parse timestamps, aggregate inverters, merge weather</a:t>
            </a:r>
            <a:endParaRPr lang="en-US" sz="1100" dirty="0"/>
          </a:p>
        </p:txBody>
      </p:sp>
      <p:sp>
        <p:nvSpPr>
          <p:cNvPr id="23" name="KDD stage 4"/>
          <p:cNvSpPr/>
          <p:nvPr/>
        </p:nvSpPr>
        <p:spPr>
          <a:xfrm>
            <a:off x="4206240" y="1280160"/>
            <a:ext cx="731520" cy="731520"/>
          </a:xfrm>
          <a:prstGeom prst="ellipse">
            <a:avLst/>
          </a:prstGeom>
          <a:solidFill>
            <a:schemeClr val="accent2"/>
          </a:solidFill>
          <a:ln/>
        </p:spPr>
      </p:sp>
      <p:pic>
        <p:nvPicPr>
          <p:cNvPr id="24" name="KDD icon 4" descr="Transformation">    </p:cNvPr>
          <p:cNvPicPr>
            <a:picLocks noChangeAspect="1"/>
          </p:cNvPicPr>
          <p:nvPr/>
        </p:nvPicPr>
        <p:blipFill>
          <a:blip r:embed="rId5"/>
          <a:stretch>
            <a:fillRect/>
          </a:stretch>
        </p:blipFill>
        <p:spPr>
          <a:xfrm>
            <a:off x="4389120" y="1463040"/>
            <a:ext cx="365760" cy="365760"/>
          </a:xfrm>
          <a:prstGeom prst="rect">
            <a:avLst/>
          </a:prstGeom>
        </p:spPr>
      </p:pic>
      <p:sp>
        <p:nvSpPr>
          <p:cNvPr id="25" name="KDD number 4"/>
          <p:cNvSpPr txBox="1"/>
          <p:nvPr/>
        </p:nvSpPr>
        <p:spPr>
          <a:xfrm>
            <a:off x="4663440"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26" name="KDD arrow 4"/>
          <p:cNvSpPr/>
          <p:nvPr/>
        </p:nvSpPr>
        <p:spPr>
          <a:xfrm>
            <a:off x="4974336" y="1645920"/>
            <a:ext cx="370985" cy="0"/>
          </a:xfrm>
          <a:prstGeom prst="line">
            <a:avLst/>
          </a:prstGeom>
          <a:noFill/>
          <a:ln w="19050">
            <a:solidFill>
              <a:schemeClr val="accent6"/>
            </a:solidFill>
            <a:prstDash val="solid"/>
            <a:tailEnd type="triangle"/>
          </a:ln>
        </p:spPr>
      </p:sp>
      <p:sp>
        <p:nvSpPr>
          <p:cNvPr id="27" name="Text 20"/>
          <p:cNvSpPr txBox="1"/>
          <p:nvPr/>
        </p:nvSpPr>
        <p:spPr>
          <a:xfrm>
            <a:off x="3984171"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Transformation</a:t>
            </a:r>
            <a:endParaRPr lang="en-US" sz="1200" dirty="0"/>
          </a:p>
        </p:txBody>
      </p:sp>
      <p:sp>
        <p:nvSpPr>
          <p:cNvPr id="28" name="Text 21"/>
          <p:cNvSpPr txBox="1"/>
          <p:nvPr/>
        </p:nvSpPr>
        <p:spPr>
          <a:xfrm>
            <a:off x="4020747"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Create HOUR, MINUTE, DAY_OF_WEEK; define features</a:t>
            </a:r>
            <a:endParaRPr lang="en-US" sz="1100" dirty="0"/>
          </a:p>
        </p:txBody>
      </p:sp>
      <p:sp>
        <p:nvSpPr>
          <p:cNvPr id="29" name="KDD stage 5"/>
          <p:cNvSpPr/>
          <p:nvPr/>
        </p:nvSpPr>
        <p:spPr>
          <a:xfrm>
            <a:off x="5381897" y="1280160"/>
            <a:ext cx="731520" cy="731520"/>
          </a:xfrm>
          <a:prstGeom prst="ellipse">
            <a:avLst/>
          </a:prstGeom>
          <a:solidFill>
            <a:schemeClr val="accent1"/>
          </a:solidFill>
          <a:ln/>
        </p:spPr>
      </p:sp>
      <p:pic>
        <p:nvPicPr>
          <p:cNvPr id="30" name="KDD icon 5" descr="Modelling">    </p:cNvPr>
          <p:cNvPicPr>
            <a:picLocks noChangeAspect="1"/>
          </p:cNvPicPr>
          <p:nvPr/>
        </p:nvPicPr>
        <p:blipFill>
          <a:blip r:embed="rId6"/>
          <a:stretch>
            <a:fillRect/>
          </a:stretch>
        </p:blipFill>
        <p:spPr>
          <a:xfrm>
            <a:off x="5564777" y="1463040"/>
            <a:ext cx="365760" cy="365760"/>
          </a:xfrm>
          <a:prstGeom prst="rect">
            <a:avLst/>
          </a:prstGeom>
        </p:spPr>
      </p:pic>
      <p:sp>
        <p:nvSpPr>
          <p:cNvPr id="31" name="KDD number 5"/>
          <p:cNvSpPr txBox="1"/>
          <p:nvPr/>
        </p:nvSpPr>
        <p:spPr>
          <a:xfrm>
            <a:off x="5839097"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5</a:t>
            </a:r>
            <a:endParaRPr lang="en-US" sz="1100" dirty="0"/>
          </a:p>
        </p:txBody>
      </p:sp>
      <p:sp>
        <p:nvSpPr>
          <p:cNvPr id="32" name="KDD arrow 5"/>
          <p:cNvSpPr/>
          <p:nvPr/>
        </p:nvSpPr>
        <p:spPr>
          <a:xfrm>
            <a:off x="6149993" y="1645920"/>
            <a:ext cx="370985" cy="0"/>
          </a:xfrm>
          <a:prstGeom prst="line">
            <a:avLst/>
          </a:prstGeom>
          <a:noFill/>
          <a:ln w="19050">
            <a:solidFill>
              <a:schemeClr val="accent6"/>
            </a:solidFill>
            <a:prstDash val="solid"/>
            <a:tailEnd type="triangle"/>
          </a:ln>
        </p:spPr>
      </p:sp>
      <p:sp>
        <p:nvSpPr>
          <p:cNvPr id="33" name="Text 25"/>
          <p:cNvSpPr txBox="1"/>
          <p:nvPr/>
        </p:nvSpPr>
        <p:spPr>
          <a:xfrm>
            <a:off x="5159829"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Modelling</a:t>
            </a:r>
            <a:endParaRPr lang="en-US" sz="1200" dirty="0"/>
          </a:p>
        </p:txBody>
      </p:sp>
      <p:sp>
        <p:nvSpPr>
          <p:cNvPr id="34" name="Text 26"/>
          <p:cNvSpPr txBox="1"/>
          <p:nvPr/>
        </p:nvSpPr>
        <p:spPr>
          <a:xfrm>
            <a:off x="5196405"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Linear Regression, Random Forest, Gradient Boosting</a:t>
            </a:r>
            <a:endParaRPr lang="en-US" sz="1100" dirty="0"/>
          </a:p>
        </p:txBody>
      </p:sp>
      <p:sp>
        <p:nvSpPr>
          <p:cNvPr id="35" name="KDD stage 6"/>
          <p:cNvSpPr/>
          <p:nvPr/>
        </p:nvSpPr>
        <p:spPr>
          <a:xfrm>
            <a:off x="6557554" y="1280160"/>
            <a:ext cx="731520" cy="731520"/>
          </a:xfrm>
          <a:prstGeom prst="ellipse">
            <a:avLst/>
          </a:prstGeom>
          <a:solidFill>
            <a:schemeClr val="accent1"/>
          </a:solidFill>
          <a:ln/>
        </p:spPr>
      </p:sp>
      <p:pic>
        <p:nvPicPr>
          <p:cNvPr id="36" name="KDD icon 6" descr="Evaluation">    </p:cNvPr>
          <p:cNvPicPr>
            <a:picLocks noChangeAspect="1"/>
          </p:cNvPicPr>
          <p:nvPr/>
        </p:nvPicPr>
        <p:blipFill>
          <a:blip r:embed="rId7"/>
          <a:stretch>
            <a:fillRect/>
          </a:stretch>
        </p:blipFill>
        <p:spPr>
          <a:xfrm>
            <a:off x="6740434" y="1463040"/>
            <a:ext cx="365760" cy="365760"/>
          </a:xfrm>
          <a:prstGeom prst="rect">
            <a:avLst/>
          </a:prstGeom>
        </p:spPr>
      </p:pic>
      <p:sp>
        <p:nvSpPr>
          <p:cNvPr id="37" name="KDD number 6"/>
          <p:cNvSpPr txBox="1"/>
          <p:nvPr/>
        </p:nvSpPr>
        <p:spPr>
          <a:xfrm>
            <a:off x="7014754"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6</a:t>
            </a:r>
            <a:endParaRPr lang="en-US" sz="1100" dirty="0"/>
          </a:p>
        </p:txBody>
      </p:sp>
      <p:sp>
        <p:nvSpPr>
          <p:cNvPr id="38" name="KDD arrow 6"/>
          <p:cNvSpPr/>
          <p:nvPr/>
        </p:nvSpPr>
        <p:spPr>
          <a:xfrm>
            <a:off x="7325650" y="1645920"/>
            <a:ext cx="370985" cy="0"/>
          </a:xfrm>
          <a:prstGeom prst="line">
            <a:avLst/>
          </a:prstGeom>
          <a:noFill/>
          <a:ln w="19050">
            <a:solidFill>
              <a:schemeClr val="accent6"/>
            </a:solidFill>
            <a:prstDash val="solid"/>
            <a:tailEnd type="triangle"/>
          </a:ln>
        </p:spPr>
      </p:sp>
      <p:sp>
        <p:nvSpPr>
          <p:cNvPr id="39" name="Text 30"/>
          <p:cNvSpPr txBox="1"/>
          <p:nvPr/>
        </p:nvSpPr>
        <p:spPr>
          <a:xfrm>
            <a:off x="6335486"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Evaluation</a:t>
            </a:r>
            <a:endParaRPr lang="en-US" sz="1200" dirty="0"/>
          </a:p>
        </p:txBody>
      </p:sp>
      <p:sp>
        <p:nvSpPr>
          <p:cNvPr id="40" name="Text 31"/>
          <p:cNvSpPr txBox="1"/>
          <p:nvPr/>
        </p:nvSpPr>
        <p:spPr>
          <a:xfrm>
            <a:off x="6372062"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Chronological 80:20 split; MAE, RMSE, R²</a:t>
            </a:r>
            <a:endParaRPr lang="en-US" sz="1100" dirty="0"/>
          </a:p>
        </p:txBody>
      </p:sp>
      <p:sp>
        <p:nvSpPr>
          <p:cNvPr id="41" name="KDD stage 7"/>
          <p:cNvSpPr/>
          <p:nvPr/>
        </p:nvSpPr>
        <p:spPr>
          <a:xfrm>
            <a:off x="7733211" y="1280160"/>
            <a:ext cx="731520" cy="731520"/>
          </a:xfrm>
          <a:prstGeom prst="ellipse">
            <a:avLst/>
          </a:prstGeom>
          <a:solidFill>
            <a:schemeClr val="accent4"/>
          </a:solidFill>
          <a:ln/>
        </p:spPr>
      </p:sp>
      <p:pic>
        <p:nvPicPr>
          <p:cNvPr id="42" name="KDD icon 7" descr="Interpretation">    </p:cNvPr>
          <p:cNvPicPr>
            <a:picLocks noChangeAspect="1"/>
          </p:cNvPicPr>
          <p:nvPr/>
        </p:nvPicPr>
        <p:blipFill>
          <a:blip r:embed="rId8"/>
          <a:stretch>
            <a:fillRect/>
          </a:stretch>
        </p:blipFill>
        <p:spPr>
          <a:xfrm>
            <a:off x="7916091" y="1463040"/>
            <a:ext cx="365760" cy="365760"/>
          </a:xfrm>
          <a:prstGeom prst="rect">
            <a:avLst/>
          </a:prstGeom>
        </p:spPr>
      </p:pic>
      <p:sp>
        <p:nvSpPr>
          <p:cNvPr id="43" name="KDD number 7"/>
          <p:cNvSpPr txBox="1"/>
          <p:nvPr/>
        </p:nvSpPr>
        <p:spPr>
          <a:xfrm>
            <a:off x="8190411" y="1188720"/>
            <a:ext cx="274320" cy="274320"/>
          </a:xfrm>
          <a:prstGeom prst="ellipse">
            <a:avLst/>
          </a:prstGeom>
          <a:solidFill>
            <a:schemeClr val="bg1"/>
          </a:solidFill>
          <a:ln w="9525">
            <a:solidFill>
              <a:schemeClr val="accent6"/>
            </a:solidFill>
          </a:ln>
        </p:spPr>
        <p:txBody>
          <a:bodyPr wrap="square" lIns="0" tIns="0" rIns="0" bIns="0" rtlCol="0" anchor="ctr"/>
          <a:lstStyle/>
          <a:p>
            <a:pPr algn="ctr" indent="0" marL="0">
              <a:buNone/>
            </a:pPr>
            <a:r>
              <a:rPr lang="en-US" sz="1100" b="1" dirty="0">
                <a:solidFill>
                  <a:schemeClr val="tx2"/>
                </a:solidFill>
              </a:rPr>
              <a:t>7</a:t>
            </a:r>
            <a:endParaRPr lang="en-US" sz="1100" dirty="0"/>
          </a:p>
        </p:txBody>
      </p:sp>
      <p:sp>
        <p:nvSpPr>
          <p:cNvPr id="44" name="Text 34"/>
          <p:cNvSpPr txBox="1"/>
          <p:nvPr/>
        </p:nvSpPr>
        <p:spPr>
          <a:xfrm>
            <a:off x="7511143" y="2194560"/>
            <a:ext cx="1175657" cy="457200"/>
          </a:xfrm>
          <a:prstGeom prst="rect">
            <a:avLst/>
          </a:prstGeom>
          <a:noFill/>
          <a:ln/>
        </p:spPr>
        <p:txBody>
          <a:bodyPr wrap="square" lIns="0" tIns="0" rIns="0" bIns="0" rtlCol="0" anchor="t"/>
          <a:lstStyle/>
          <a:p>
            <a:pPr algn="ctr" indent="0" marL="0">
              <a:buNone/>
            </a:pPr>
            <a:r>
              <a:rPr lang="en-US" sz="1200" b="1" dirty="0">
                <a:solidFill>
                  <a:schemeClr val="tx2"/>
                </a:solidFill>
              </a:rPr>
              <a:t>Interpretation</a:t>
            </a:r>
            <a:endParaRPr lang="en-US" sz="1200" dirty="0"/>
          </a:p>
        </p:txBody>
      </p:sp>
      <p:sp>
        <p:nvSpPr>
          <p:cNvPr id="45" name="Text 35"/>
          <p:cNvSpPr txBox="1"/>
          <p:nvPr/>
        </p:nvSpPr>
        <p:spPr>
          <a:xfrm>
            <a:off x="7547719" y="2697480"/>
            <a:ext cx="1102505" cy="914400"/>
          </a:xfrm>
          <a:prstGeom prst="rect">
            <a:avLst/>
          </a:prstGeom>
          <a:noFill/>
          <a:ln/>
        </p:spPr>
        <p:txBody>
          <a:bodyPr wrap="square" lIns="0" tIns="0" rIns="0" bIns="0" rtlCol="0" anchor="t"/>
          <a:lstStyle/>
          <a:p>
            <a:pPr algn="ctr" indent="0" marL="0">
              <a:buNone/>
            </a:pPr>
            <a:r>
              <a:rPr lang="en-US" sz="1100" dirty="0">
                <a:solidFill>
                  <a:schemeClr val="tx1"/>
                </a:solidFill>
              </a:rPr>
              <a:t>Compare models; plots; feature importance</a:t>
            </a:r>
            <a:endParaRPr lang="en-US" sz="1100" dirty="0"/>
          </a:p>
        </p:txBody>
      </p:sp>
      <p:sp>
        <p:nvSpPr>
          <p:cNvPr id="46" name="KDD legend dot 1"/>
          <p:cNvSpPr/>
          <p:nvPr/>
        </p:nvSpPr>
        <p:spPr>
          <a:xfrm>
            <a:off x="457200" y="3767328"/>
            <a:ext cx="164592" cy="164592"/>
          </a:xfrm>
          <a:prstGeom prst="ellipse">
            <a:avLst/>
          </a:prstGeom>
          <a:solidFill>
            <a:schemeClr val="accent2"/>
          </a:solidFill>
          <a:ln/>
        </p:spPr>
      </p:sp>
      <p:sp>
        <p:nvSpPr>
          <p:cNvPr id="47" name="Text 37"/>
          <p:cNvSpPr txBox="1"/>
          <p:nvPr/>
        </p:nvSpPr>
        <p:spPr>
          <a:xfrm>
            <a:off x="694944" y="3721608"/>
            <a:ext cx="2560320" cy="256032"/>
          </a:xfrm>
          <a:prstGeom prst="rect">
            <a:avLst/>
          </a:prstGeom>
          <a:noFill/>
          <a:ln/>
        </p:spPr>
        <p:txBody>
          <a:bodyPr wrap="square" lIns="0" tIns="0" rIns="0" bIns="0" rtlCol="0" anchor="ctr"/>
          <a:lstStyle/>
          <a:p>
            <a:pPr indent="0" marL="0">
              <a:buNone/>
            </a:pPr>
            <a:r>
              <a:rPr lang="en-US" sz="1100" dirty="0">
                <a:solidFill>
                  <a:schemeClr val="accent6"/>
                </a:solidFill>
              </a:rPr>
              <a:t>Data preparation (stages 1–4)</a:t>
            </a:r>
            <a:endParaRPr lang="en-US" sz="1100" dirty="0"/>
          </a:p>
        </p:txBody>
      </p:sp>
      <p:sp>
        <p:nvSpPr>
          <p:cNvPr id="48" name="KDD legend dot 2"/>
          <p:cNvSpPr/>
          <p:nvPr/>
        </p:nvSpPr>
        <p:spPr>
          <a:xfrm>
            <a:off x="3291840" y="3767328"/>
            <a:ext cx="164592" cy="164592"/>
          </a:xfrm>
          <a:prstGeom prst="ellipse">
            <a:avLst/>
          </a:prstGeom>
          <a:solidFill>
            <a:schemeClr val="accent1"/>
          </a:solidFill>
          <a:ln/>
        </p:spPr>
      </p:sp>
      <p:sp>
        <p:nvSpPr>
          <p:cNvPr id="49" name="Text 39"/>
          <p:cNvSpPr txBox="1"/>
          <p:nvPr/>
        </p:nvSpPr>
        <p:spPr>
          <a:xfrm>
            <a:off x="3529584" y="3721608"/>
            <a:ext cx="2560320" cy="256032"/>
          </a:xfrm>
          <a:prstGeom prst="rect">
            <a:avLst/>
          </a:prstGeom>
          <a:noFill/>
          <a:ln/>
        </p:spPr>
        <p:txBody>
          <a:bodyPr wrap="square" lIns="0" tIns="0" rIns="0" bIns="0" rtlCol="0" anchor="ctr"/>
          <a:lstStyle/>
          <a:p>
            <a:pPr indent="0" marL="0">
              <a:buNone/>
            </a:pPr>
            <a:r>
              <a:rPr lang="en-US" sz="1100" dirty="0">
                <a:solidFill>
                  <a:schemeClr val="accent6"/>
                </a:solidFill>
              </a:rPr>
              <a:t>Modelling and evaluation (5–6)</a:t>
            </a:r>
            <a:endParaRPr lang="en-US" sz="1100" dirty="0"/>
          </a:p>
        </p:txBody>
      </p:sp>
      <p:sp>
        <p:nvSpPr>
          <p:cNvPr id="50" name="KDD legend dot 3"/>
          <p:cNvSpPr/>
          <p:nvPr/>
        </p:nvSpPr>
        <p:spPr>
          <a:xfrm>
            <a:off x="6217920" y="3767328"/>
            <a:ext cx="164592" cy="164592"/>
          </a:xfrm>
          <a:prstGeom prst="ellipse">
            <a:avLst/>
          </a:prstGeom>
          <a:solidFill>
            <a:schemeClr val="accent4"/>
          </a:solidFill>
          <a:ln/>
        </p:spPr>
      </p:sp>
      <p:sp>
        <p:nvSpPr>
          <p:cNvPr id="51" name="Text 41"/>
          <p:cNvSpPr txBox="1"/>
          <p:nvPr/>
        </p:nvSpPr>
        <p:spPr>
          <a:xfrm>
            <a:off x="6455664" y="3721608"/>
            <a:ext cx="2560320" cy="256032"/>
          </a:xfrm>
          <a:prstGeom prst="rect">
            <a:avLst/>
          </a:prstGeom>
          <a:noFill/>
          <a:ln/>
        </p:spPr>
        <p:txBody>
          <a:bodyPr wrap="square" lIns="0" tIns="0" rIns="0" bIns="0" rtlCol="0" anchor="ctr"/>
          <a:lstStyle/>
          <a:p>
            <a:pPr indent="0" marL="0">
              <a:buNone/>
            </a:pPr>
            <a:r>
              <a:rPr lang="en-US" sz="1100" dirty="0">
                <a:solidFill>
                  <a:schemeClr val="accent6"/>
                </a:solidFill>
              </a:rPr>
              <a:t>Knowledge (7)</a:t>
            </a:r>
            <a:endParaRPr lang="en-US" sz="1100" dirty="0"/>
          </a:p>
        </p:txBody>
      </p:sp>
      <p:sp>
        <p:nvSpPr>
          <p:cNvPr id="52" name="KDD outcome banner"/>
          <p:cNvSpPr/>
          <p:nvPr/>
        </p:nvSpPr>
        <p:spPr>
          <a:xfrm>
            <a:off x="457200" y="4114800"/>
            <a:ext cx="8229600" cy="548640"/>
          </a:xfrm>
          <a:prstGeom prst="roundRect">
            <a:avLst>
              <a:gd name="adj" fmla="val 16667"/>
            </a:avLst>
          </a:prstGeom>
          <a:solidFill>
            <a:schemeClr val="tx2"/>
          </a:solidFill>
          <a:ln/>
        </p:spPr>
      </p:sp>
      <p:sp>
        <p:nvSpPr>
          <p:cNvPr id="53" name="Text 43"/>
          <p:cNvSpPr txBox="1"/>
          <p:nvPr/>
        </p:nvSpPr>
        <p:spPr>
          <a:xfrm>
            <a:off x="685800" y="4114800"/>
            <a:ext cx="7772400" cy="548640"/>
          </a:xfrm>
          <a:prstGeom prst="rect">
            <a:avLst/>
          </a:prstGeom>
          <a:noFill/>
          <a:ln/>
        </p:spPr>
        <p:txBody>
          <a:bodyPr wrap="square" lIns="0" tIns="0" rIns="0" bIns="0" rtlCol="0" anchor="ctr"/>
          <a:lstStyle/>
          <a:p>
            <a:pPr indent="0" marL="0">
              <a:buNone/>
            </a:pPr>
            <a:r>
              <a:rPr lang="en-US" sz="1400" b="1" dirty="0">
                <a:solidFill>
                  <a:schemeClr val="bg1"/>
                </a:solidFill>
              </a:rPr>
              <a:t>Outcome: knowledge of how weather and time features relate to plant AC power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Features and Predictive Modelling</a:t>
            </a:r>
            <a:endParaRPr lang="en-US" sz="2800" dirty="0"/>
          </a:p>
        </p:txBody>
      </p:sp>
      <p:sp>
        <p:nvSpPr>
          <p:cNvPr id="3" name="Modelling circle"/>
          <p:cNvSpPr/>
          <p:nvPr/>
        </p:nvSpPr>
        <p:spPr>
          <a:xfrm>
            <a:off x="8229600" y="347472"/>
            <a:ext cx="457200" cy="457200"/>
          </a:xfrm>
          <a:prstGeom prst="ellipse">
            <a:avLst/>
          </a:prstGeom>
          <a:solidFill>
            <a:schemeClr val="accent1"/>
          </a:solidFill>
          <a:ln/>
        </p:spPr>
      </p:sp>
      <p:pic>
        <p:nvPicPr>
          <p:cNvPr id="4" name="Modelling icon" descr="Modelling">    </p:cNvPr>
          <p:cNvPicPr>
            <a:picLocks noChangeAspect="1"/>
          </p:cNvPicPr>
          <p:nvPr/>
        </p:nvPicPr>
        <p:blipFill>
          <a:blip r:embed="rId1"/>
          <a:stretch>
            <a:fillRect/>
          </a:stretch>
        </p:blipFill>
        <p:spPr>
          <a:xfrm>
            <a:off x="8343900" y="461772"/>
            <a:ext cx="228600" cy="228600"/>
          </a:xfrm>
          <a:prstGeom prst="rect">
            <a:avLst/>
          </a:prstGeom>
        </p:spPr>
      </p:pic>
      <p:sp>
        <p:nvSpPr>
          <p:cNvPr id="5" name="Text 2"/>
          <p:cNvSpPr txBox="1"/>
          <p:nvPr/>
        </p:nvSpPr>
        <p:spPr>
          <a:xfrm>
            <a:off x="457200" y="1097280"/>
            <a:ext cx="27432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TARGET</a:t>
            </a:r>
            <a:endParaRPr lang="en-US" sz="1100" dirty="0"/>
          </a:p>
        </p:txBody>
      </p:sp>
      <p:sp>
        <p:nvSpPr>
          <p:cNvPr id="6" name="chip AC_POWER"/>
          <p:cNvSpPr txBox="1"/>
          <p:nvPr/>
        </p:nvSpPr>
        <p:spPr>
          <a:xfrm>
            <a:off x="457200" y="1371600"/>
            <a:ext cx="764438" cy="237744"/>
          </a:xfrm>
          <a:prstGeom prst="roundRect">
            <a:avLst>
              <a:gd name="adj" fmla="val 23077"/>
            </a:avLst>
          </a:prstGeom>
          <a:solidFill>
            <a:schemeClr val="accent1"/>
          </a:solidFill>
          <a:ln/>
        </p:spPr>
        <p:txBody>
          <a:bodyPr wrap="square" lIns="0" tIns="0" rIns="0" bIns="0" rtlCol="0" anchor="ctr"/>
          <a:lstStyle/>
          <a:p>
            <a:pPr algn="ctr" indent="0" marL="0">
              <a:buNone/>
            </a:pPr>
            <a:r>
              <a:rPr lang="en-US" sz="1000" b="1" dirty="0">
                <a:solidFill>
                  <a:schemeClr val="bg1"/>
                </a:solidFill>
              </a:rPr>
              <a:t>AC_POWER</a:t>
            </a:r>
            <a:endParaRPr lang="en-US" sz="1000" dirty="0"/>
          </a:p>
        </p:txBody>
      </p:sp>
      <p:sp>
        <p:nvSpPr>
          <p:cNvPr id="7" name="Text 4"/>
          <p:cNvSpPr txBox="1"/>
          <p:nvPr/>
        </p:nvSpPr>
        <p:spPr>
          <a:xfrm>
            <a:off x="1554480" y="1371600"/>
            <a:ext cx="2834640" cy="256032"/>
          </a:xfrm>
          <a:prstGeom prst="rect">
            <a:avLst/>
          </a:prstGeom>
          <a:noFill/>
          <a:ln/>
        </p:spPr>
        <p:txBody>
          <a:bodyPr wrap="square" lIns="0" tIns="0" rIns="0" bIns="0" rtlCol="0" anchor="ctr"/>
          <a:lstStyle/>
          <a:p>
            <a:pPr indent="0" marL="0">
              <a:buNone/>
            </a:pPr>
            <a:r>
              <a:rPr lang="en-US" sz="1200" dirty="0">
                <a:solidFill>
                  <a:schemeClr val="tx1"/>
                </a:solidFill>
              </a:rPr>
              <a:t>Total plant-level AC power (kW)</a:t>
            </a:r>
            <a:endParaRPr lang="en-US" sz="1200" dirty="0"/>
          </a:p>
        </p:txBody>
      </p:sp>
      <p:sp>
        <p:nvSpPr>
          <p:cNvPr id="8" name="Text 5"/>
          <p:cNvSpPr txBox="1"/>
          <p:nvPr/>
        </p:nvSpPr>
        <p:spPr>
          <a:xfrm>
            <a:off x="457200" y="1828800"/>
            <a:ext cx="27432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INPUT FEATURES (6)</a:t>
            </a:r>
            <a:endParaRPr lang="en-US" sz="1100" dirty="0"/>
          </a:p>
        </p:txBody>
      </p:sp>
      <p:sp>
        <p:nvSpPr>
          <p:cNvPr id="9" name="chip IRRADIATION"/>
          <p:cNvSpPr txBox="1"/>
          <p:nvPr/>
        </p:nvSpPr>
        <p:spPr>
          <a:xfrm>
            <a:off x="457200" y="2103120"/>
            <a:ext cx="975665"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IRRADIATION</a:t>
            </a:r>
            <a:endParaRPr lang="en-US" sz="1000" dirty="0"/>
          </a:p>
        </p:txBody>
      </p:sp>
      <p:sp>
        <p:nvSpPr>
          <p:cNvPr id="10" name="chip AMBIENT_TEMPERATURE"/>
          <p:cNvSpPr txBox="1"/>
          <p:nvPr/>
        </p:nvSpPr>
        <p:spPr>
          <a:xfrm>
            <a:off x="1524305" y="2103120"/>
            <a:ext cx="1538935"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AMBIENT_TEMPERATURE</a:t>
            </a:r>
            <a:endParaRPr lang="en-US" sz="1000" dirty="0"/>
          </a:p>
        </p:txBody>
      </p:sp>
      <p:sp>
        <p:nvSpPr>
          <p:cNvPr id="11" name="chip MODULE_TEMPERATURE"/>
          <p:cNvSpPr txBox="1"/>
          <p:nvPr/>
        </p:nvSpPr>
        <p:spPr>
          <a:xfrm>
            <a:off x="457200" y="2395728"/>
            <a:ext cx="1468526"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MODULE_TEMPERATURE</a:t>
            </a:r>
            <a:endParaRPr lang="en-US" sz="1000" dirty="0"/>
          </a:p>
        </p:txBody>
      </p:sp>
      <p:sp>
        <p:nvSpPr>
          <p:cNvPr id="12" name="chip HOUR"/>
          <p:cNvSpPr txBox="1"/>
          <p:nvPr/>
        </p:nvSpPr>
        <p:spPr>
          <a:xfrm>
            <a:off x="2017166" y="2395728"/>
            <a:ext cx="482803"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HOUR</a:t>
            </a:r>
            <a:endParaRPr lang="en-US" sz="1000" dirty="0"/>
          </a:p>
        </p:txBody>
      </p:sp>
      <p:sp>
        <p:nvSpPr>
          <p:cNvPr id="13" name="chip MINUTE"/>
          <p:cNvSpPr txBox="1"/>
          <p:nvPr/>
        </p:nvSpPr>
        <p:spPr>
          <a:xfrm>
            <a:off x="2591410" y="2395728"/>
            <a:ext cx="623621"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MINUTE</a:t>
            </a:r>
            <a:endParaRPr lang="en-US" sz="1000" dirty="0"/>
          </a:p>
        </p:txBody>
      </p:sp>
      <p:sp>
        <p:nvSpPr>
          <p:cNvPr id="14" name="chip DAY_OF_WEEK"/>
          <p:cNvSpPr txBox="1"/>
          <p:nvPr/>
        </p:nvSpPr>
        <p:spPr>
          <a:xfrm>
            <a:off x="3306470" y="2395728"/>
            <a:ext cx="975665" cy="237744"/>
          </a:xfrm>
          <a:prstGeom prst="roundRect">
            <a:avLst>
              <a:gd name="adj" fmla="val 23077"/>
            </a:avLst>
          </a:prstGeom>
          <a:solidFill>
            <a:schemeClr val="accent3"/>
          </a:solidFill>
          <a:ln/>
        </p:spPr>
        <p:txBody>
          <a:bodyPr wrap="square" lIns="0" tIns="0" rIns="0" bIns="0" rtlCol="0" anchor="ctr"/>
          <a:lstStyle/>
          <a:p>
            <a:pPr algn="ctr" indent="0" marL="0">
              <a:buNone/>
            </a:pPr>
            <a:r>
              <a:rPr lang="en-US" sz="1000" b="1" dirty="0">
                <a:solidFill>
                  <a:schemeClr val="tx1"/>
                </a:solidFill>
              </a:rPr>
              <a:t>DAY_OF_WEEK</a:t>
            </a:r>
            <a:endParaRPr lang="en-US" sz="1000" dirty="0"/>
          </a:p>
        </p:txBody>
      </p:sp>
      <p:sp>
        <p:nvSpPr>
          <p:cNvPr id="15" name="Leakage prevention card"/>
          <p:cNvSpPr/>
          <p:nvPr/>
        </p:nvSpPr>
        <p:spPr>
          <a:xfrm>
            <a:off x="457200" y="3154680"/>
            <a:ext cx="3931920" cy="1463040"/>
          </a:xfrm>
          <a:prstGeom prst="roundRect">
            <a:avLst>
              <a:gd name="adj" fmla="val 6250"/>
            </a:avLst>
          </a:prstGeom>
          <a:solidFill>
            <a:schemeClr val="bg2"/>
          </a:solidFill>
          <a:ln/>
        </p:spPr>
      </p:sp>
      <p:sp>
        <p:nvSpPr>
          <p:cNvPr id="16" name="Lock circle"/>
          <p:cNvSpPr/>
          <p:nvPr/>
        </p:nvSpPr>
        <p:spPr>
          <a:xfrm>
            <a:off x="640080" y="3291840"/>
            <a:ext cx="457200" cy="457200"/>
          </a:xfrm>
          <a:prstGeom prst="ellipse">
            <a:avLst/>
          </a:prstGeom>
          <a:solidFill>
            <a:schemeClr val="accent2"/>
          </a:solidFill>
          <a:ln/>
        </p:spPr>
      </p:sp>
      <p:pic>
        <p:nvPicPr>
          <p:cNvPr id="17" name="Lock icon" descr="Lock">    </p:cNvPr>
          <p:cNvPicPr>
            <a:picLocks noChangeAspect="1"/>
          </p:cNvPicPr>
          <p:nvPr/>
        </p:nvPicPr>
        <p:blipFill>
          <a:blip r:embed="rId2"/>
          <a:stretch>
            <a:fillRect/>
          </a:stretch>
        </p:blipFill>
        <p:spPr>
          <a:xfrm>
            <a:off x="754380" y="3406140"/>
            <a:ext cx="228600" cy="228600"/>
          </a:xfrm>
          <a:prstGeom prst="rect">
            <a:avLst/>
          </a:prstGeom>
        </p:spPr>
      </p:pic>
      <p:sp>
        <p:nvSpPr>
          <p:cNvPr id="18" name="Text 14"/>
          <p:cNvSpPr txBox="1"/>
          <p:nvPr/>
        </p:nvSpPr>
        <p:spPr>
          <a:xfrm>
            <a:off x="1234440" y="3291840"/>
            <a:ext cx="3017520" cy="457200"/>
          </a:xfrm>
          <a:prstGeom prst="rect">
            <a:avLst/>
          </a:prstGeom>
          <a:noFill/>
          <a:ln/>
        </p:spPr>
        <p:txBody>
          <a:bodyPr wrap="square" lIns="0" tIns="0" rIns="0" bIns="0" rtlCol="0" anchor="ctr"/>
          <a:lstStyle/>
          <a:p>
            <a:pPr indent="0" marL="0">
              <a:buNone/>
            </a:pPr>
            <a:r>
              <a:rPr lang="en-US" sz="1600" b="1" dirty="0">
                <a:solidFill>
                  <a:schemeClr val="tx2"/>
                </a:solidFill>
              </a:rPr>
              <a:t>Leakage prevention</a:t>
            </a:r>
            <a:endParaRPr lang="en-US" sz="1600" dirty="0"/>
          </a:p>
        </p:txBody>
      </p:sp>
      <p:sp>
        <p:nvSpPr>
          <p:cNvPr id="19" name="Text 15"/>
          <p:cNvSpPr txBox="1"/>
          <p:nvPr/>
        </p:nvSpPr>
        <p:spPr>
          <a:xfrm>
            <a:off x="640080" y="3840480"/>
            <a:ext cx="3566160" cy="685800"/>
          </a:xfrm>
          <a:prstGeom prst="rect">
            <a:avLst/>
          </a:prstGeom>
          <a:noFill/>
          <a:ln/>
        </p:spPr>
        <p:txBody>
          <a:bodyPr wrap="square" lIns="0" tIns="0" rIns="0" bIns="0" rtlCol="0" anchor="t"/>
          <a:lstStyle/>
          <a:p>
            <a:pPr indent="0" marL="0">
              <a:buNone/>
            </a:pPr>
            <a:r>
              <a:rPr lang="en-US" sz="1200" b="1" dirty="0">
                <a:solidFill>
                  <a:schemeClr val="tx1"/>
                </a:solidFill>
              </a:rPr>
              <a:t>Excluded from inputs: </a:t>
            </a:r>
            <a:pPr indent="0" marL="0">
              <a:buNone/>
            </a:pPr>
            <a:r>
              <a:rPr lang="en-US" sz="1200" dirty="0">
                <a:solidFill>
                  <a:schemeClr val="tx1"/>
                </a:solidFill>
              </a:rPr>
              <a:t>DC_POWER, DAILY_YIELD, TOTAL_YIELD, SOURCE_KEY.</a:t>
            </a:r>
            <a:endParaRPr lang="en-US" sz="1200" dirty="0"/>
          </a:p>
        </p:txBody>
      </p:sp>
      <p:sp>
        <p:nvSpPr>
          <p:cNvPr id="20" name="Text 16"/>
          <p:cNvSpPr txBox="1"/>
          <p:nvPr/>
        </p:nvSpPr>
        <p:spPr>
          <a:xfrm>
            <a:off x="4754880" y="1097280"/>
            <a:ext cx="393192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THREE REGRESSION ALGORITHMS</a:t>
            </a:r>
            <a:endParaRPr lang="en-US" sz="1100" dirty="0"/>
          </a:p>
        </p:txBody>
      </p:sp>
      <p:sp>
        <p:nvSpPr>
          <p:cNvPr id="21" name="Model card 1"/>
          <p:cNvSpPr/>
          <p:nvPr/>
        </p:nvSpPr>
        <p:spPr>
          <a:xfrm>
            <a:off x="4754880" y="1371600"/>
            <a:ext cx="3931920" cy="960120"/>
          </a:xfrm>
          <a:prstGeom prst="roundRect">
            <a:avLst>
              <a:gd name="adj" fmla="val 9524"/>
            </a:avLst>
          </a:prstGeom>
          <a:solidFill>
            <a:schemeClr val="bg2"/>
          </a:solidFill>
          <a:ln/>
        </p:spPr>
      </p:sp>
      <p:sp>
        <p:nvSpPr>
          <p:cNvPr id="22" name="Model number 1"/>
          <p:cNvSpPr/>
          <p:nvPr/>
        </p:nvSpPr>
        <p:spPr>
          <a:xfrm>
            <a:off x="4937760" y="1645920"/>
            <a:ext cx="411480" cy="411480"/>
          </a:xfrm>
          <a:prstGeom prst="ellipse">
            <a:avLst/>
          </a:prstGeom>
          <a:solidFill>
            <a:schemeClr val="accent2"/>
          </a:solidFill>
          <a:ln/>
        </p:spPr>
      </p:sp>
      <p:sp>
        <p:nvSpPr>
          <p:cNvPr id="23" name="Text 19"/>
          <p:cNvSpPr txBox="1"/>
          <p:nvPr/>
        </p:nvSpPr>
        <p:spPr>
          <a:xfrm>
            <a:off x="493776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4" name="Text 20"/>
          <p:cNvSpPr txBox="1"/>
          <p:nvPr/>
        </p:nvSpPr>
        <p:spPr>
          <a:xfrm>
            <a:off x="5532120" y="1481328"/>
            <a:ext cx="3017520" cy="274320"/>
          </a:xfrm>
          <a:prstGeom prst="rect">
            <a:avLst/>
          </a:prstGeom>
          <a:noFill/>
          <a:ln/>
        </p:spPr>
        <p:txBody>
          <a:bodyPr wrap="square" lIns="0" tIns="0" rIns="0" bIns="0" rtlCol="0" anchor="t"/>
          <a:lstStyle/>
          <a:p>
            <a:pPr indent="0" marL="0">
              <a:buNone/>
            </a:pPr>
            <a:r>
              <a:rPr lang="en-US" sz="1500" b="1" dirty="0">
                <a:solidFill>
                  <a:schemeClr val="tx2"/>
                </a:solidFill>
              </a:rPr>
              <a:t>Linear Regression</a:t>
            </a:r>
            <a:endParaRPr lang="en-US" sz="1500" dirty="0"/>
          </a:p>
        </p:txBody>
      </p:sp>
      <p:sp>
        <p:nvSpPr>
          <p:cNvPr id="25" name="Text 21"/>
          <p:cNvSpPr txBox="1"/>
          <p:nvPr/>
        </p:nvSpPr>
        <p:spPr>
          <a:xfrm>
            <a:off x="5532120" y="1783080"/>
            <a:ext cx="3017520" cy="502920"/>
          </a:xfrm>
          <a:prstGeom prst="rect">
            <a:avLst/>
          </a:prstGeom>
          <a:noFill/>
          <a:ln/>
        </p:spPr>
        <p:txBody>
          <a:bodyPr wrap="square" lIns="0" tIns="0" rIns="0" bIns="0" rtlCol="0" anchor="t"/>
          <a:lstStyle/>
          <a:p>
            <a:pPr indent="0" marL="0">
              <a:buNone/>
            </a:pPr>
            <a:r>
              <a:rPr lang="en-US" sz="1100" dirty="0">
                <a:solidFill>
                  <a:schemeClr val="tx1"/>
                </a:solidFill>
              </a:rPr>
              <a:t>Median imputer → StandardScaler → LinearRegression</a:t>
            </a:r>
            <a:endParaRPr lang="en-US" sz="1100" dirty="0"/>
          </a:p>
        </p:txBody>
      </p:sp>
      <p:sp>
        <p:nvSpPr>
          <p:cNvPr id="26" name="Model card 2"/>
          <p:cNvSpPr/>
          <p:nvPr/>
        </p:nvSpPr>
        <p:spPr>
          <a:xfrm>
            <a:off x="4754880" y="2468880"/>
            <a:ext cx="3931920" cy="960120"/>
          </a:xfrm>
          <a:prstGeom prst="roundRect">
            <a:avLst>
              <a:gd name="adj" fmla="val 9524"/>
            </a:avLst>
          </a:prstGeom>
          <a:solidFill>
            <a:schemeClr val="bg2"/>
          </a:solidFill>
          <a:ln/>
        </p:spPr>
      </p:sp>
      <p:sp>
        <p:nvSpPr>
          <p:cNvPr id="27" name="Model number 2"/>
          <p:cNvSpPr/>
          <p:nvPr/>
        </p:nvSpPr>
        <p:spPr>
          <a:xfrm>
            <a:off x="4937760" y="2743200"/>
            <a:ext cx="411480" cy="411480"/>
          </a:xfrm>
          <a:prstGeom prst="ellipse">
            <a:avLst/>
          </a:prstGeom>
          <a:solidFill>
            <a:schemeClr val="accent2"/>
          </a:solidFill>
          <a:ln/>
        </p:spPr>
      </p:sp>
      <p:sp>
        <p:nvSpPr>
          <p:cNvPr id="28" name="Text 24"/>
          <p:cNvSpPr txBox="1"/>
          <p:nvPr/>
        </p:nvSpPr>
        <p:spPr>
          <a:xfrm>
            <a:off x="4937760" y="2743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9" name="Text 25"/>
          <p:cNvSpPr txBox="1"/>
          <p:nvPr/>
        </p:nvSpPr>
        <p:spPr>
          <a:xfrm>
            <a:off x="5532120" y="2578608"/>
            <a:ext cx="3017520" cy="274320"/>
          </a:xfrm>
          <a:prstGeom prst="rect">
            <a:avLst/>
          </a:prstGeom>
          <a:noFill/>
          <a:ln/>
        </p:spPr>
        <p:txBody>
          <a:bodyPr wrap="square" lIns="0" tIns="0" rIns="0" bIns="0" rtlCol="0" anchor="t"/>
          <a:lstStyle/>
          <a:p>
            <a:pPr indent="0" marL="0">
              <a:buNone/>
            </a:pPr>
            <a:r>
              <a:rPr lang="en-US" sz="1500" b="1" dirty="0">
                <a:solidFill>
                  <a:schemeClr val="tx2"/>
                </a:solidFill>
              </a:rPr>
              <a:t>Random Forest</a:t>
            </a:r>
            <a:endParaRPr lang="en-US" sz="1500" dirty="0"/>
          </a:p>
        </p:txBody>
      </p:sp>
      <p:sp>
        <p:nvSpPr>
          <p:cNvPr id="30" name="Text 26"/>
          <p:cNvSpPr txBox="1"/>
          <p:nvPr/>
        </p:nvSpPr>
        <p:spPr>
          <a:xfrm>
            <a:off x="5532120" y="2880360"/>
            <a:ext cx="3017520" cy="502920"/>
          </a:xfrm>
          <a:prstGeom prst="rect">
            <a:avLst/>
          </a:prstGeom>
          <a:noFill/>
          <a:ln/>
        </p:spPr>
        <p:txBody>
          <a:bodyPr wrap="square" lIns="0" tIns="0" rIns="0" bIns="0" rtlCol="0" anchor="t"/>
          <a:lstStyle/>
          <a:p>
            <a:pPr indent="0" marL="0">
              <a:buNone/>
            </a:pPr>
            <a:r>
              <a:rPr lang="en-US" sz="1100" dirty="0">
                <a:solidFill>
                  <a:schemeClr val="tx1"/>
                </a:solidFill>
              </a:rPr>
              <a:t>200 trees, min_samples_leaf = 2, random_state = 42</a:t>
            </a:r>
            <a:endParaRPr lang="en-US" sz="1100" dirty="0"/>
          </a:p>
        </p:txBody>
      </p:sp>
      <p:sp>
        <p:nvSpPr>
          <p:cNvPr id="31" name="Model card 3"/>
          <p:cNvSpPr/>
          <p:nvPr/>
        </p:nvSpPr>
        <p:spPr>
          <a:xfrm>
            <a:off x="4754880" y="3566160"/>
            <a:ext cx="3931920" cy="960120"/>
          </a:xfrm>
          <a:prstGeom prst="roundRect">
            <a:avLst>
              <a:gd name="adj" fmla="val 9524"/>
            </a:avLst>
          </a:prstGeom>
          <a:solidFill>
            <a:schemeClr val="bg2"/>
          </a:solidFill>
          <a:ln/>
        </p:spPr>
      </p:sp>
      <p:sp>
        <p:nvSpPr>
          <p:cNvPr id="32" name="Model number 3"/>
          <p:cNvSpPr/>
          <p:nvPr/>
        </p:nvSpPr>
        <p:spPr>
          <a:xfrm>
            <a:off x="4937760" y="3840480"/>
            <a:ext cx="411480" cy="411480"/>
          </a:xfrm>
          <a:prstGeom prst="ellipse">
            <a:avLst/>
          </a:prstGeom>
          <a:solidFill>
            <a:schemeClr val="accent1"/>
          </a:solidFill>
          <a:ln/>
        </p:spPr>
      </p:sp>
      <p:sp>
        <p:nvSpPr>
          <p:cNvPr id="33" name="Text 29"/>
          <p:cNvSpPr txBox="1"/>
          <p:nvPr/>
        </p:nvSpPr>
        <p:spPr>
          <a:xfrm>
            <a:off x="4937760" y="38404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4" name="Text 30"/>
          <p:cNvSpPr txBox="1"/>
          <p:nvPr/>
        </p:nvSpPr>
        <p:spPr>
          <a:xfrm>
            <a:off x="5532120" y="3675888"/>
            <a:ext cx="3017520" cy="274320"/>
          </a:xfrm>
          <a:prstGeom prst="rect">
            <a:avLst/>
          </a:prstGeom>
          <a:noFill/>
          <a:ln/>
        </p:spPr>
        <p:txBody>
          <a:bodyPr wrap="square" lIns="0" tIns="0" rIns="0" bIns="0" rtlCol="0" anchor="t"/>
          <a:lstStyle/>
          <a:p>
            <a:pPr indent="0" marL="0">
              <a:buNone/>
            </a:pPr>
            <a:r>
              <a:rPr lang="en-US" sz="1500" b="1" dirty="0">
                <a:solidFill>
                  <a:schemeClr val="tx2"/>
                </a:solidFill>
              </a:rPr>
              <a:t>Gradient Boosting</a:t>
            </a:r>
            <a:endParaRPr lang="en-US" sz="1500" dirty="0"/>
          </a:p>
        </p:txBody>
      </p:sp>
      <p:sp>
        <p:nvSpPr>
          <p:cNvPr id="35" name="Text 31"/>
          <p:cNvSpPr txBox="1"/>
          <p:nvPr/>
        </p:nvSpPr>
        <p:spPr>
          <a:xfrm>
            <a:off x="5532120" y="3977640"/>
            <a:ext cx="3017520" cy="502920"/>
          </a:xfrm>
          <a:prstGeom prst="rect">
            <a:avLst/>
          </a:prstGeom>
          <a:noFill/>
          <a:ln/>
        </p:spPr>
        <p:txBody>
          <a:bodyPr wrap="square" lIns="0" tIns="0" rIns="0" bIns="0" rtlCol="0" anchor="t"/>
          <a:lstStyle/>
          <a:p>
            <a:pPr indent="0" marL="0">
              <a:buNone/>
            </a:pPr>
            <a:r>
              <a:rPr lang="en-US" sz="1100" dirty="0">
                <a:solidFill>
                  <a:schemeClr val="tx1"/>
                </a:solidFill>
              </a:rPr>
              <a:t>150 estimators, learning_rate = 0.05, max_depth = 3, random_state = 42</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Evaluation Methodology</a:t>
            </a:r>
            <a:endParaRPr lang="en-US" sz="2800" dirty="0"/>
          </a:p>
        </p:txBody>
      </p:sp>
      <p:sp>
        <p:nvSpPr>
          <p:cNvPr id="3" name="Ruler circle"/>
          <p:cNvSpPr/>
          <p:nvPr/>
        </p:nvSpPr>
        <p:spPr>
          <a:xfrm>
            <a:off x="8229600" y="347472"/>
            <a:ext cx="457200" cy="457200"/>
          </a:xfrm>
          <a:prstGeom prst="ellipse">
            <a:avLst/>
          </a:prstGeom>
          <a:solidFill>
            <a:schemeClr val="accent1"/>
          </a:solidFill>
          <a:ln/>
        </p:spPr>
      </p:sp>
      <p:pic>
        <p:nvPicPr>
          <p:cNvPr id="4" name="Ruler icon" descr="Ruler">    </p:cNvPr>
          <p:cNvPicPr>
            <a:picLocks noChangeAspect="1"/>
          </p:cNvPicPr>
          <p:nvPr/>
        </p:nvPicPr>
        <p:blipFill>
          <a:blip r:embed="rId1"/>
          <a:stretch>
            <a:fillRect/>
          </a:stretch>
        </p:blipFill>
        <p:spPr>
          <a:xfrm>
            <a:off x="8343900" y="461772"/>
            <a:ext cx="228600" cy="228600"/>
          </a:xfrm>
          <a:prstGeom prst="rect">
            <a:avLst/>
          </a:prstGeom>
        </p:spPr>
      </p:pic>
      <p:sp>
        <p:nvSpPr>
          <p:cNvPr id="5" name="Text 2"/>
          <p:cNvSpPr txBox="1"/>
          <p:nvPr/>
        </p:nvSpPr>
        <p:spPr>
          <a:xfrm>
            <a:off x="457200" y="1097280"/>
            <a:ext cx="5486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CHRONOLOGICAL 80:20 SPLIT (NO SHUFFLING)</a:t>
            </a:r>
            <a:endParaRPr lang="en-US" sz="1100" dirty="0"/>
          </a:p>
        </p:txBody>
      </p:sp>
      <p:sp>
        <p:nvSpPr>
          <p:cNvPr id="6" name="Training bar"/>
          <p:cNvSpPr/>
          <p:nvPr/>
        </p:nvSpPr>
        <p:spPr>
          <a:xfrm>
            <a:off x="457200" y="1417320"/>
            <a:ext cx="6583680" cy="548640"/>
          </a:xfrm>
          <a:prstGeom prst="rect">
            <a:avLst/>
          </a:prstGeom>
          <a:solidFill>
            <a:schemeClr val="accent1"/>
          </a:solidFill>
          <a:ln/>
        </p:spPr>
      </p:sp>
      <p:sp>
        <p:nvSpPr>
          <p:cNvPr id="7" name="Test bar"/>
          <p:cNvSpPr/>
          <p:nvPr/>
        </p:nvSpPr>
        <p:spPr>
          <a:xfrm>
            <a:off x="7040880" y="1417320"/>
            <a:ext cx="1645920" cy="548640"/>
          </a:xfrm>
          <a:prstGeom prst="rect">
            <a:avLst/>
          </a:prstGeom>
          <a:solidFill>
            <a:schemeClr val="tx2"/>
          </a:solidFill>
          <a:ln/>
        </p:spPr>
      </p:sp>
      <p:sp>
        <p:nvSpPr>
          <p:cNvPr id="8" name="Text 5"/>
          <p:cNvSpPr txBox="1"/>
          <p:nvPr/>
        </p:nvSpPr>
        <p:spPr>
          <a:xfrm>
            <a:off x="457200" y="1417320"/>
            <a:ext cx="6583680" cy="548640"/>
          </a:xfrm>
          <a:prstGeom prst="rect">
            <a:avLst/>
          </a:prstGeom>
          <a:noFill/>
          <a:ln/>
        </p:spPr>
        <p:txBody>
          <a:bodyPr wrap="square" lIns="0" tIns="0" rIns="0" bIns="0" rtlCol="0" anchor="ctr"/>
          <a:lstStyle/>
          <a:p>
            <a:pPr algn="ctr" indent="0" marL="0">
              <a:buNone/>
            </a:pPr>
            <a:r>
              <a:rPr lang="en-US" sz="1500" b="1" dirty="0">
                <a:solidFill>
                  <a:schemeClr val="bg1"/>
                </a:solidFill>
              </a:rPr>
              <a:t>Training: 2,525 rows (80%)</a:t>
            </a:r>
            <a:endParaRPr lang="en-US" sz="1500" dirty="0"/>
          </a:p>
        </p:txBody>
      </p:sp>
      <p:sp>
        <p:nvSpPr>
          <p:cNvPr id="9" name="Text 6"/>
          <p:cNvSpPr txBox="1"/>
          <p:nvPr/>
        </p:nvSpPr>
        <p:spPr>
          <a:xfrm>
            <a:off x="7040880" y="1417320"/>
            <a:ext cx="1645920" cy="548640"/>
          </a:xfrm>
          <a:prstGeom prst="rect">
            <a:avLst/>
          </a:prstGeom>
          <a:noFill/>
          <a:ln/>
        </p:spPr>
        <p:txBody>
          <a:bodyPr wrap="square" lIns="0" tIns="0" rIns="0" bIns="0" rtlCol="0" anchor="ctr"/>
          <a:lstStyle/>
          <a:p>
            <a:pPr algn="ctr" indent="0" marL="0">
              <a:buNone/>
            </a:pPr>
            <a:r>
              <a:rPr lang="en-US" sz="1300" b="1" dirty="0">
                <a:solidFill>
                  <a:schemeClr val="bg1"/>
                </a:solidFill>
              </a:rPr>
              <a:t>Test: 632 (20%)</a:t>
            </a:r>
            <a:endParaRPr lang="en-US" sz="1300" dirty="0"/>
          </a:p>
        </p:txBody>
      </p:sp>
      <p:sp>
        <p:nvSpPr>
          <p:cNvPr id="10" name="Text 7"/>
          <p:cNvSpPr txBox="1"/>
          <p:nvPr/>
        </p:nvSpPr>
        <p:spPr>
          <a:xfrm>
            <a:off x="457200" y="2029968"/>
            <a:ext cx="4114800" cy="256032"/>
          </a:xfrm>
          <a:prstGeom prst="rect">
            <a:avLst/>
          </a:prstGeom>
          <a:noFill/>
          <a:ln/>
        </p:spPr>
        <p:txBody>
          <a:bodyPr wrap="square" lIns="0" tIns="0" rIns="0" bIns="0" rtlCol="0" anchor="t"/>
          <a:lstStyle/>
          <a:p>
            <a:pPr indent="0" marL="0">
              <a:buNone/>
            </a:pPr>
            <a:r>
              <a:rPr lang="en-US" sz="1200" dirty="0">
                <a:solidFill>
                  <a:schemeClr val="tx1"/>
                </a:solidFill>
              </a:rPr>
              <a:t>15 May 2020 00:00  →  11 Jun 2020 09:15</a:t>
            </a:r>
            <a:endParaRPr lang="en-US" sz="1200" dirty="0"/>
          </a:p>
        </p:txBody>
      </p:sp>
      <p:sp>
        <p:nvSpPr>
          <p:cNvPr id="11" name="Text 8"/>
          <p:cNvSpPr txBox="1"/>
          <p:nvPr/>
        </p:nvSpPr>
        <p:spPr>
          <a:xfrm>
            <a:off x="5486400" y="2029968"/>
            <a:ext cx="3200400" cy="256032"/>
          </a:xfrm>
          <a:prstGeom prst="rect">
            <a:avLst/>
          </a:prstGeom>
          <a:noFill/>
          <a:ln/>
        </p:spPr>
        <p:txBody>
          <a:bodyPr wrap="square" lIns="0" tIns="0" rIns="0" bIns="0" rtlCol="0" anchor="t"/>
          <a:lstStyle/>
          <a:p>
            <a:pPr algn="r" indent="0" marL="0">
              <a:buNone/>
            </a:pPr>
            <a:r>
              <a:rPr lang="en-US" sz="1200" dirty="0">
                <a:solidFill>
                  <a:schemeClr val="tx1"/>
                </a:solidFill>
              </a:rPr>
              <a:t>11 Jun 09:30  →  17 Jun 23:45</a:t>
            </a:r>
            <a:endParaRPr lang="en-US" sz="1200" dirty="0"/>
          </a:p>
        </p:txBody>
      </p:sp>
      <p:sp>
        <p:nvSpPr>
          <p:cNvPr id="12" name="Metric card MAE"/>
          <p:cNvSpPr/>
          <p:nvPr/>
        </p:nvSpPr>
        <p:spPr>
          <a:xfrm>
            <a:off x="457200" y="2606040"/>
            <a:ext cx="2651760" cy="2011680"/>
          </a:xfrm>
          <a:prstGeom prst="roundRect">
            <a:avLst>
              <a:gd name="adj" fmla="val 4545"/>
            </a:avLst>
          </a:prstGeom>
          <a:solidFill>
            <a:schemeClr val="bg2"/>
          </a:solidFill>
          <a:ln/>
        </p:spPr>
      </p:sp>
      <p:sp>
        <p:nvSpPr>
          <p:cNvPr id="13" name="Text 10"/>
          <p:cNvSpPr txBox="1"/>
          <p:nvPr/>
        </p:nvSpPr>
        <p:spPr>
          <a:xfrm>
            <a:off x="640080" y="2715768"/>
            <a:ext cx="22860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MAE</a:t>
            </a:r>
            <a:endParaRPr lang="en-US" sz="2600" dirty="0"/>
          </a:p>
        </p:txBody>
      </p:sp>
      <p:sp>
        <p:nvSpPr>
          <p:cNvPr id="14" name="Text 11"/>
          <p:cNvSpPr txBox="1"/>
          <p:nvPr/>
        </p:nvSpPr>
        <p:spPr>
          <a:xfrm>
            <a:off x="640080" y="3200400"/>
            <a:ext cx="2286000" cy="274320"/>
          </a:xfrm>
          <a:prstGeom prst="rect">
            <a:avLst/>
          </a:prstGeom>
          <a:noFill/>
          <a:ln/>
        </p:spPr>
        <p:txBody>
          <a:bodyPr wrap="square" lIns="0" tIns="0" rIns="0" bIns="0" rtlCol="0" anchor="t"/>
          <a:lstStyle/>
          <a:p>
            <a:pPr indent="0" marL="0">
              <a:buNone/>
            </a:pPr>
            <a:r>
              <a:rPr lang="en-US" sz="1300" b="1" dirty="0">
                <a:solidFill>
                  <a:schemeClr val="tx2"/>
                </a:solidFill>
              </a:rPr>
              <a:t>Mean Absolute Error</a:t>
            </a:r>
            <a:endParaRPr lang="en-US" sz="1300" dirty="0"/>
          </a:p>
        </p:txBody>
      </p:sp>
      <p:sp>
        <p:nvSpPr>
          <p:cNvPr id="15" name="Text 12"/>
          <p:cNvSpPr txBox="1"/>
          <p:nvPr/>
        </p:nvSpPr>
        <p:spPr>
          <a:xfrm>
            <a:off x="640080" y="3520440"/>
            <a:ext cx="2286000" cy="365760"/>
          </a:xfrm>
          <a:prstGeom prst="rect">
            <a:avLst/>
          </a:prstGeom>
          <a:noFill/>
          <a:ln/>
        </p:spPr>
        <p:txBody>
          <a:bodyPr wrap="square" lIns="0" tIns="0" rIns="0" bIns="0" rtlCol="0" anchor="t"/>
          <a:lstStyle/>
          <a:p>
            <a:pPr indent="0" marL="0">
              <a:buNone/>
            </a:pPr>
            <a:r>
              <a:rPr lang="en-US" sz="1200" dirty="0">
                <a:solidFill>
                  <a:schemeClr val="tx1"/>
                </a:solidFill>
              </a:rPr>
              <a:t>average of |actual − predicted|</a:t>
            </a:r>
            <a:endParaRPr lang="en-US" sz="1200" dirty="0"/>
          </a:p>
        </p:txBody>
      </p:sp>
      <p:sp>
        <p:nvSpPr>
          <p:cNvPr id="16" name="Text 13"/>
          <p:cNvSpPr txBox="1"/>
          <p:nvPr/>
        </p:nvSpPr>
        <p:spPr>
          <a:xfrm>
            <a:off x="640080" y="3977640"/>
            <a:ext cx="2286000" cy="548640"/>
          </a:xfrm>
          <a:prstGeom prst="rect">
            <a:avLst/>
          </a:prstGeom>
          <a:noFill/>
          <a:ln/>
        </p:spPr>
        <p:txBody>
          <a:bodyPr wrap="square" lIns="0" tIns="0" rIns="0" bIns="0" rtlCol="0" anchor="t"/>
          <a:lstStyle/>
          <a:p>
            <a:pPr indent="0" marL="0">
              <a:buNone/>
            </a:pPr>
            <a:r>
              <a:rPr lang="en-US" sz="1200" i="1" dirty="0">
                <a:solidFill>
                  <a:schemeClr val="accent6"/>
                </a:solidFill>
              </a:rPr>
              <a:t>Lower is better (kW)</a:t>
            </a:r>
            <a:endParaRPr lang="en-US" sz="1200" dirty="0"/>
          </a:p>
        </p:txBody>
      </p:sp>
      <p:sp>
        <p:nvSpPr>
          <p:cNvPr id="17" name="Metric card RMSE"/>
          <p:cNvSpPr/>
          <p:nvPr/>
        </p:nvSpPr>
        <p:spPr>
          <a:xfrm>
            <a:off x="3246120" y="2606040"/>
            <a:ext cx="2651760" cy="2011680"/>
          </a:xfrm>
          <a:prstGeom prst="roundRect">
            <a:avLst>
              <a:gd name="adj" fmla="val 4545"/>
            </a:avLst>
          </a:prstGeom>
          <a:solidFill>
            <a:schemeClr val="bg2"/>
          </a:solidFill>
          <a:ln/>
        </p:spPr>
      </p:sp>
      <p:sp>
        <p:nvSpPr>
          <p:cNvPr id="18" name="Text 15"/>
          <p:cNvSpPr txBox="1"/>
          <p:nvPr/>
        </p:nvSpPr>
        <p:spPr>
          <a:xfrm>
            <a:off x="3429000" y="2715768"/>
            <a:ext cx="22860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RMSE</a:t>
            </a:r>
            <a:endParaRPr lang="en-US" sz="2600" dirty="0"/>
          </a:p>
        </p:txBody>
      </p:sp>
      <p:sp>
        <p:nvSpPr>
          <p:cNvPr id="19" name="Text 16"/>
          <p:cNvSpPr txBox="1"/>
          <p:nvPr/>
        </p:nvSpPr>
        <p:spPr>
          <a:xfrm>
            <a:off x="3429000" y="3200400"/>
            <a:ext cx="2286000" cy="274320"/>
          </a:xfrm>
          <a:prstGeom prst="rect">
            <a:avLst/>
          </a:prstGeom>
          <a:noFill/>
          <a:ln/>
        </p:spPr>
        <p:txBody>
          <a:bodyPr wrap="square" lIns="0" tIns="0" rIns="0" bIns="0" rtlCol="0" anchor="t"/>
          <a:lstStyle/>
          <a:p>
            <a:pPr indent="0" marL="0">
              <a:buNone/>
            </a:pPr>
            <a:r>
              <a:rPr lang="en-US" sz="1300" b="1" dirty="0">
                <a:solidFill>
                  <a:schemeClr val="tx2"/>
                </a:solidFill>
              </a:rPr>
              <a:t>Root Mean Squared Error</a:t>
            </a:r>
            <a:endParaRPr lang="en-US" sz="1300" dirty="0"/>
          </a:p>
        </p:txBody>
      </p:sp>
      <p:sp>
        <p:nvSpPr>
          <p:cNvPr id="20" name="Text 17"/>
          <p:cNvSpPr txBox="1"/>
          <p:nvPr/>
        </p:nvSpPr>
        <p:spPr>
          <a:xfrm>
            <a:off x="3429000" y="3520440"/>
            <a:ext cx="2286000" cy="365760"/>
          </a:xfrm>
          <a:prstGeom prst="rect">
            <a:avLst/>
          </a:prstGeom>
          <a:noFill/>
          <a:ln/>
        </p:spPr>
        <p:txBody>
          <a:bodyPr wrap="square" lIns="0" tIns="0" rIns="0" bIns="0" rtlCol="0" anchor="t"/>
          <a:lstStyle/>
          <a:p>
            <a:pPr indent="0" marL="0">
              <a:buNone/>
            </a:pPr>
            <a:r>
              <a:rPr lang="en-US" sz="1200" dirty="0">
                <a:solidFill>
                  <a:schemeClr val="tx1"/>
                </a:solidFill>
              </a:rPr>
              <a:t>√ of the average squared error</a:t>
            </a:r>
            <a:endParaRPr lang="en-US" sz="1200" dirty="0"/>
          </a:p>
        </p:txBody>
      </p:sp>
      <p:sp>
        <p:nvSpPr>
          <p:cNvPr id="21" name="Text 18"/>
          <p:cNvSpPr txBox="1"/>
          <p:nvPr/>
        </p:nvSpPr>
        <p:spPr>
          <a:xfrm>
            <a:off x="3429000" y="3977640"/>
            <a:ext cx="2286000" cy="548640"/>
          </a:xfrm>
          <a:prstGeom prst="rect">
            <a:avLst/>
          </a:prstGeom>
          <a:noFill/>
          <a:ln/>
        </p:spPr>
        <p:txBody>
          <a:bodyPr wrap="square" lIns="0" tIns="0" rIns="0" bIns="0" rtlCol="0" anchor="t"/>
          <a:lstStyle/>
          <a:p>
            <a:pPr indent="0" marL="0">
              <a:buNone/>
            </a:pPr>
            <a:r>
              <a:rPr lang="en-US" sz="1200" i="1" dirty="0">
                <a:solidFill>
                  <a:schemeClr val="accent6"/>
                </a:solidFill>
              </a:rPr>
              <a:t>Penalises large errors; lower is better (kW)</a:t>
            </a:r>
            <a:endParaRPr lang="en-US" sz="1200" dirty="0"/>
          </a:p>
        </p:txBody>
      </p:sp>
      <p:sp>
        <p:nvSpPr>
          <p:cNvPr id="22" name="Metric card R²"/>
          <p:cNvSpPr/>
          <p:nvPr/>
        </p:nvSpPr>
        <p:spPr>
          <a:xfrm>
            <a:off x="6035040" y="2606040"/>
            <a:ext cx="2651760" cy="2011680"/>
          </a:xfrm>
          <a:prstGeom prst="roundRect">
            <a:avLst>
              <a:gd name="adj" fmla="val 4545"/>
            </a:avLst>
          </a:prstGeom>
          <a:solidFill>
            <a:schemeClr val="bg2"/>
          </a:solidFill>
          <a:ln/>
        </p:spPr>
      </p:sp>
      <p:sp>
        <p:nvSpPr>
          <p:cNvPr id="23" name="Text 20"/>
          <p:cNvSpPr txBox="1"/>
          <p:nvPr/>
        </p:nvSpPr>
        <p:spPr>
          <a:xfrm>
            <a:off x="6217920" y="2715768"/>
            <a:ext cx="22860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R²</a:t>
            </a:r>
            <a:endParaRPr lang="en-US" sz="2600" dirty="0"/>
          </a:p>
        </p:txBody>
      </p:sp>
      <p:sp>
        <p:nvSpPr>
          <p:cNvPr id="24" name="Text 21"/>
          <p:cNvSpPr txBox="1"/>
          <p:nvPr/>
        </p:nvSpPr>
        <p:spPr>
          <a:xfrm>
            <a:off x="6217920" y="3200400"/>
            <a:ext cx="2286000" cy="274320"/>
          </a:xfrm>
          <a:prstGeom prst="rect">
            <a:avLst/>
          </a:prstGeom>
          <a:noFill/>
          <a:ln/>
        </p:spPr>
        <p:txBody>
          <a:bodyPr wrap="square" lIns="0" tIns="0" rIns="0" bIns="0" rtlCol="0" anchor="t"/>
          <a:lstStyle/>
          <a:p>
            <a:pPr indent="0" marL="0">
              <a:buNone/>
            </a:pPr>
            <a:r>
              <a:rPr lang="en-US" sz="1300" b="1" dirty="0">
                <a:solidFill>
                  <a:schemeClr val="tx2"/>
                </a:solidFill>
              </a:rPr>
              <a:t>Coefficient of determination</a:t>
            </a:r>
            <a:endParaRPr lang="en-US" sz="1300" dirty="0"/>
          </a:p>
        </p:txBody>
      </p:sp>
      <p:sp>
        <p:nvSpPr>
          <p:cNvPr id="25" name="Text 22"/>
          <p:cNvSpPr txBox="1"/>
          <p:nvPr/>
        </p:nvSpPr>
        <p:spPr>
          <a:xfrm>
            <a:off x="6217920" y="3520440"/>
            <a:ext cx="2286000" cy="365760"/>
          </a:xfrm>
          <a:prstGeom prst="rect">
            <a:avLst/>
          </a:prstGeom>
          <a:noFill/>
          <a:ln/>
        </p:spPr>
        <p:txBody>
          <a:bodyPr wrap="square" lIns="0" tIns="0" rIns="0" bIns="0" rtlCol="0" anchor="t"/>
          <a:lstStyle/>
          <a:p>
            <a:pPr indent="0" marL="0">
              <a:buNone/>
            </a:pPr>
            <a:r>
              <a:rPr lang="en-US" sz="1200" dirty="0">
                <a:solidFill>
                  <a:schemeClr val="tx1"/>
                </a:solidFill>
              </a:rPr>
              <a:t>1 − SSresidual / SStotal</a:t>
            </a:r>
            <a:endParaRPr lang="en-US" sz="1200" dirty="0"/>
          </a:p>
        </p:txBody>
      </p:sp>
      <p:sp>
        <p:nvSpPr>
          <p:cNvPr id="26" name="Text 23"/>
          <p:cNvSpPr txBox="1"/>
          <p:nvPr/>
        </p:nvSpPr>
        <p:spPr>
          <a:xfrm>
            <a:off x="6217920" y="3977640"/>
            <a:ext cx="2286000" cy="548640"/>
          </a:xfrm>
          <a:prstGeom prst="rect">
            <a:avLst/>
          </a:prstGeom>
          <a:noFill/>
          <a:ln/>
        </p:spPr>
        <p:txBody>
          <a:bodyPr wrap="square" lIns="0" tIns="0" rIns="0" bIns="0" rtlCol="0" anchor="t"/>
          <a:lstStyle/>
          <a:p>
            <a:pPr indent="0" marL="0">
              <a:buNone/>
            </a:pPr>
            <a:r>
              <a:rPr lang="en-US" sz="1200" i="1" dirty="0">
                <a:solidFill>
                  <a:schemeClr val="accent6"/>
                </a:solidFill>
              </a:rPr>
              <a:t>Share of variance explained; closer to 1 is better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Results and Model Comparison</a:t>
            </a:r>
            <a:endParaRPr lang="en-US" sz="2800" dirty="0"/>
          </a:p>
        </p:txBody>
      </p:sp>
      <p:sp>
        <p:nvSpPr>
          <p:cNvPr id="3" name="Chart circle"/>
          <p:cNvSpPr/>
          <p:nvPr/>
        </p:nvSpPr>
        <p:spPr>
          <a:xfrm>
            <a:off x="8229600" y="347472"/>
            <a:ext cx="457200" cy="457200"/>
          </a:xfrm>
          <a:prstGeom prst="ellipse">
            <a:avLst/>
          </a:prstGeom>
          <a:solidFill>
            <a:schemeClr val="accent1"/>
          </a:solidFill>
          <a:ln/>
        </p:spPr>
      </p:sp>
      <p:pic>
        <p:nvPicPr>
          <p:cNvPr id="4" name="Chart icon" descr="Chart">    </p:cNvPr>
          <p:cNvPicPr>
            <a:picLocks noChangeAspect="1"/>
          </p:cNvPicPr>
          <p:nvPr/>
        </p:nvPicPr>
        <p:blipFill>
          <a:blip r:embed="rId1"/>
          <a:stretch>
            <a:fillRect/>
          </a:stretch>
        </p:blipFill>
        <p:spPr>
          <a:xfrm>
            <a:off x="8343900" y="461772"/>
            <a:ext cx="228600" cy="228600"/>
          </a:xfrm>
          <a:prstGeom prst="rect">
            <a:avLst/>
          </a:prstGeom>
        </p:spPr>
      </p:pic>
      <p:sp>
        <p:nvSpPr>
          <p:cNvPr id="5" name="Best model badge"/>
          <p:cNvSpPr txBox="1"/>
          <p:nvPr/>
        </p:nvSpPr>
        <p:spPr>
          <a:xfrm>
            <a:off x="457200" y="1097280"/>
            <a:ext cx="4389120" cy="411480"/>
          </a:xfrm>
          <a:prstGeom prst="roundRect">
            <a:avLst>
              <a:gd name="adj" fmla="val 17778"/>
            </a:avLst>
          </a:prstGeom>
          <a:solidFill>
            <a:schemeClr val="accent1"/>
          </a:solidFill>
          <a:ln/>
        </p:spPr>
        <p:txBody>
          <a:bodyPr wrap="square" lIns="635" tIns="635" rIns="635" bIns="635" rtlCol="0" anchor="ctr"/>
          <a:lstStyle/>
          <a:p>
            <a:pPr algn="ctr" indent="0" marL="0">
              <a:buNone/>
            </a:pPr>
            <a:r>
              <a:rPr lang="en-US" sz="1300" b="1" dirty="0">
                <a:solidFill>
                  <a:schemeClr val="bg1"/>
                </a:solidFill>
              </a:rPr>
              <a:t>Best model by test RMSE: Gradient Boosting (480.0973 kW)</a:t>
            </a:r>
            <a:endParaRPr lang="en-US" sz="1300" dirty="0"/>
          </a:p>
        </p:txBody>
      </p:sp>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457200" y="1691640"/>
          <a:ext cx="4389120" cy="914400"/>
        </p:xfrm>
        <a:graphic>
          <a:graphicData uri="http://schemas.openxmlformats.org/drawingml/2006/table">
            <a:tbl>
              <a:tblPr/>
              <a:tblGrid>
                <a:gridCol w="1645920"/>
                <a:gridCol w="914400"/>
                <a:gridCol w="960120"/>
                <a:gridCol w="86868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1331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MAE (kW)</a:t>
                      </a:r>
                      <a:endParaRPr lang="en-US" sz="12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1331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RMSE (kW)</a:t>
                      </a:r>
                      <a:endParaRPr lang="en-US" sz="12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1331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13315C"/>
                    </a:solidFill>
                  </a:tcPr>
                </a:tc>
              </a:tr>
              <a:tr h="4572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244.8238</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480.0973</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0.9964</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r>
              <a:tr h="4572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238.9281</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490.4442</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0.9962</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0B2545"/>
                          </a:solidFill>
                          <a:latin typeface="Calibri" pitchFamily="34" charset="0"/>
                          <a:ea typeface="Calibri" pitchFamily="34" charset="-122"/>
                          <a:cs typeface="Calibri" pitchFamily="34" charset="-120"/>
                        </a:rPr>
                        <a:t>Linear Regression</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502.6576</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806.3010</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2545"/>
                          </a:solidFill>
                          <a:latin typeface="Calibri" pitchFamily="34" charset="0"/>
                          <a:ea typeface="Calibri" pitchFamily="34" charset="-122"/>
                          <a:cs typeface="Calibri" pitchFamily="34" charset="-120"/>
                        </a:rPr>
                        <a:t>0.9898</a:t>
                      </a:r>
                      <a:endParaRPr lang="en-US" sz="13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3703320"/>
            <a:ext cx="4389120" cy="9144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Random Forest has the lowest MAE (238.9281 kW), but Gradient Boosting has the lower RMSE.</a:t>
            </a:r>
            <a:endParaRPr lang="en-US" sz="1200" dirty="0"/>
          </a:p>
          <a:p>
            <a:pPr marL="342900" indent="-342900">
              <a:spcAft>
                <a:spcPts val="400"/>
              </a:spcAft>
              <a:buSzPct val="100000"/>
              <a:buChar char="•"/>
            </a:pPr>
            <a:r>
              <a:rPr lang="en-US" sz="1200" dirty="0">
                <a:solidFill>
                  <a:schemeClr val="tx1"/>
                </a:solidFill>
              </a:rPr>
              <a:t>Linear Regression has the highest errors, yet its R² is still 0.9898.</a:t>
            </a:r>
            <a:endParaRPr lang="en-US" sz="1200" dirty="0"/>
          </a:p>
        </p:txBody>
      </p:sp>
      <p:graphicFrame>
        <p:nvGraphicFramePr>
          <p:cNvPr id="8" name="Chart 0" descr=""/>
          <p:cNvGraphicFramePr/>
          <p:nvPr/>
        </p:nvGraphicFramePr>
        <p:xfrm>
          <a:off x="5029200" y="1097280"/>
          <a:ext cx="3657600" cy="35204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Interpretation and Discussion</a:t>
            </a:r>
            <a:endParaRPr lang="en-US" sz="2800" dirty="0"/>
          </a:p>
        </p:txBody>
      </p:sp>
      <p:sp>
        <p:nvSpPr>
          <p:cNvPr id="3" name="Lightbulb circle"/>
          <p:cNvSpPr/>
          <p:nvPr/>
        </p:nvSpPr>
        <p:spPr>
          <a:xfrm>
            <a:off x="8229600" y="347472"/>
            <a:ext cx="457200" cy="457200"/>
          </a:xfrm>
          <a:prstGeom prst="ellipse">
            <a:avLst/>
          </a:prstGeom>
          <a:solidFill>
            <a:schemeClr val="accent1"/>
          </a:solidFill>
          <a:ln/>
        </p:spPr>
      </p:sp>
      <p:pic>
        <p:nvPicPr>
          <p:cNvPr id="4" name="Lightbulb icon" descr="Lightbulb">    </p:cNvPr>
          <p:cNvPicPr>
            <a:picLocks noChangeAspect="1"/>
          </p:cNvPicPr>
          <p:nvPr/>
        </p:nvPicPr>
        <p:blipFill>
          <a:blip r:embed="rId1"/>
          <a:stretch>
            <a:fillRect/>
          </a:stretch>
        </p:blipFill>
        <p:spPr>
          <a:xfrm>
            <a:off x="8343900" y="461772"/>
            <a:ext cx="228600" cy="228600"/>
          </a:xfrm>
          <a:prstGeom prst="rect">
            <a:avLst/>
          </a:prstGeom>
        </p:spPr>
      </p:pic>
      <p:pic>
        <p:nvPicPr>
          <p:cNvPr id="5" name="Actual vs predicted plot" descr="Actual versus predicted AC power for Gradient Boosting on the test set">    </p:cNvPr>
          <p:cNvPicPr>
            <a:picLocks noChangeAspect="1"/>
          </p:cNvPicPr>
          <p:nvPr/>
        </p:nvPicPr>
        <p:blipFill>
          <a:blip r:embed="rId2"/>
          <a:stretch>
            <a:fillRect/>
          </a:stretch>
        </p:blipFill>
        <p:spPr>
          <a:xfrm>
            <a:off x="457200" y="1051560"/>
            <a:ext cx="2242450" cy="1920240"/>
          </a:xfrm>
          <a:prstGeom prst="rect">
            <a:avLst/>
          </a:prstGeom>
        </p:spPr>
      </p:pic>
      <p:pic>
        <p:nvPicPr>
          <p:cNvPr id="6" name="Residual plots" descr="Residuals versus predicted values and residual distribution for Gradient Boosting">    </p:cNvPr>
          <p:cNvPicPr>
            <a:picLocks noChangeAspect="1"/>
          </p:cNvPicPr>
          <p:nvPr/>
        </p:nvPicPr>
        <p:blipFill>
          <a:blip r:embed="rId3"/>
          <a:stretch>
            <a:fillRect/>
          </a:stretch>
        </p:blipFill>
        <p:spPr>
          <a:xfrm>
            <a:off x="3017520" y="1051560"/>
            <a:ext cx="5189012" cy="1920240"/>
          </a:xfrm>
          <a:prstGeom prst="rect">
            <a:avLst/>
          </a:prstGeom>
        </p:spPr>
      </p:pic>
      <p:pic>
        <p:nvPicPr>
          <p:cNvPr id="7" name="Feature importance plot" descr="Feature importance for Gradient Boosting: IRRADIATION dominates">    </p:cNvPr>
          <p:cNvPicPr>
            <a:picLocks noChangeAspect="1"/>
          </p:cNvPicPr>
          <p:nvPr/>
        </p:nvPicPr>
        <p:blipFill>
          <a:blip r:embed="rId4"/>
          <a:stretch>
            <a:fillRect/>
          </a:stretch>
        </p:blipFill>
        <p:spPr>
          <a:xfrm>
            <a:off x="457200" y="3108960"/>
            <a:ext cx="2790998" cy="1554480"/>
          </a:xfrm>
          <a:prstGeom prst="rect">
            <a:avLst/>
          </a:prstGeom>
        </p:spPr>
      </p:pic>
      <p:sp>
        <p:nvSpPr>
          <p:cNvPr id="8" name="Text 2"/>
          <p:cNvSpPr txBox="1"/>
          <p:nvPr/>
        </p:nvSpPr>
        <p:spPr>
          <a:xfrm>
            <a:off x="3474720" y="3154680"/>
            <a:ext cx="5212080" cy="1463040"/>
          </a:xfrm>
          <a:prstGeom prst="rect">
            <a:avLst/>
          </a:prstGeom>
          <a:noFill/>
          <a:ln/>
        </p:spPr>
        <p:txBody>
          <a:bodyPr wrap="square" lIns="0" tIns="0" rIns="0" bIns="0" rtlCol="0" anchor="t"/>
          <a:lstStyle/>
          <a:p>
            <a:pPr indent="0" marL="0">
              <a:spcAft>
                <a:spcPts val="500"/>
              </a:spcAft>
              <a:buNone/>
            </a:pPr>
            <a:r>
              <a:rPr lang="en-US" sz="1300" b="1" dirty="0">
                <a:solidFill>
                  <a:schemeClr val="accent1"/>
                </a:solidFill>
              </a:rPr>
              <a:t>Actual vs predicted: </a:t>
            </a:r>
            <a:pPr indent="0" marL="0">
              <a:spcAft>
                <a:spcPts val="500"/>
              </a:spcAft>
              <a:buNone/>
            </a:pPr>
            <a:r>
              <a:rPr lang="en-US" sz="1300" dirty="0">
                <a:solidFill>
                  <a:schemeClr val="tx1"/>
                </a:solidFill>
              </a:rPr>
              <a:t>points follow the 1:1 line closely across the full power range.</a:t>
            </a:r>
            <a:endParaRPr lang="en-US" sz="1300" dirty="0"/>
          </a:p>
          <a:p>
            <a:pPr indent="0" marL="0">
              <a:spcAft>
                <a:spcPts val="500"/>
              </a:spcAft>
              <a:buNone/>
            </a:pPr>
            <a:r>
              <a:rPr lang="en-US" sz="1300" b="1" dirty="0">
                <a:solidFill>
                  <a:schemeClr val="accent1"/>
                </a:solidFill>
              </a:rPr>
              <a:t>Residuals: </a:t>
            </a:r>
            <a:pPr indent="0" marL="0">
              <a:spcAft>
                <a:spcPts val="500"/>
              </a:spcAft>
              <a:buNone/>
            </a:pPr>
            <a:r>
              <a:rPr lang="en-US" sz="1300" dirty="0">
                <a:solidFill>
                  <a:schemeClr val="tx1"/>
                </a:solidFill>
              </a:rPr>
              <a:t>most are near zero; spread grows at higher predicted power.</a:t>
            </a:r>
            <a:endParaRPr lang="en-US" sz="1300" dirty="0"/>
          </a:p>
          <a:p>
            <a:pPr indent="0" marL="0">
              <a:spcAft>
                <a:spcPts val="500"/>
              </a:spcAft>
              <a:buNone/>
            </a:pPr>
            <a:r>
              <a:rPr lang="en-US" sz="1300" b="1" dirty="0">
                <a:solidFill>
                  <a:schemeClr val="accent1"/>
                </a:solidFill>
              </a:rPr>
              <a:t>Feature importance: </a:t>
            </a:r>
            <a:pPr indent="0" marL="0">
              <a:spcAft>
                <a:spcPts val="500"/>
              </a:spcAft>
              <a:buNone/>
            </a:pPr>
            <a:r>
              <a:rPr lang="en-US" sz="1300" dirty="0">
                <a:solidFill>
                  <a:schemeClr val="tx1"/>
                </a:solidFill>
              </a:rPr>
              <a:t>IRRADIATION 0.998540; HOUR 0.000511 is next. Importance shows usefulness, not causation.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tx2"/>
                </a:solidFill>
              </a:rPr>
              <a:t>Conclusion and Limitations</a:t>
            </a:r>
            <a:endParaRPr lang="en-US" sz="2800" dirty="0"/>
          </a:p>
        </p:txBody>
      </p:sp>
      <p:sp>
        <p:nvSpPr>
          <p:cNvPr id="3" name="Flag circle"/>
          <p:cNvSpPr/>
          <p:nvPr/>
        </p:nvSpPr>
        <p:spPr>
          <a:xfrm>
            <a:off x="8229600" y="347472"/>
            <a:ext cx="457200" cy="457200"/>
          </a:xfrm>
          <a:prstGeom prst="ellipse">
            <a:avLst/>
          </a:prstGeom>
          <a:solidFill>
            <a:schemeClr val="accent1"/>
          </a:solidFill>
          <a:ln/>
        </p:spPr>
      </p:sp>
      <p:pic>
        <p:nvPicPr>
          <p:cNvPr id="4" name="Flag icon" descr="Flag">    </p:cNvPr>
          <p:cNvPicPr>
            <a:picLocks noChangeAspect="1"/>
          </p:cNvPicPr>
          <p:nvPr/>
        </p:nvPicPr>
        <p:blipFill>
          <a:blip r:embed="rId1"/>
          <a:stretch>
            <a:fillRect/>
          </a:stretch>
        </p:blipFill>
        <p:spPr>
          <a:xfrm>
            <a:off x="8343900" y="461772"/>
            <a:ext cx="228600" cy="228600"/>
          </a:xfrm>
          <a:prstGeom prst="rect">
            <a:avLst/>
          </a:prstGeom>
        </p:spPr>
      </p:pic>
      <p:sp>
        <p:nvSpPr>
          <p:cNvPr id="5" name="Findings card"/>
          <p:cNvSpPr/>
          <p:nvPr/>
        </p:nvSpPr>
        <p:spPr>
          <a:xfrm>
            <a:off x="457200" y="1097280"/>
            <a:ext cx="4023360" cy="2926080"/>
          </a:xfrm>
          <a:prstGeom prst="roundRect">
            <a:avLst>
              <a:gd name="adj" fmla="val 3125"/>
            </a:avLst>
          </a:prstGeom>
          <a:solidFill>
            <a:schemeClr val="bg2"/>
          </a:solidFill>
          <a:ln/>
        </p:spPr>
      </p:sp>
      <p:sp>
        <p:nvSpPr>
          <p:cNvPr id="6" name="Text 3"/>
          <p:cNvSpPr txBox="1"/>
          <p:nvPr/>
        </p:nvSpPr>
        <p:spPr>
          <a:xfrm>
            <a:off x="685800" y="118872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Main findings</a:t>
            </a:r>
            <a:endParaRPr lang="en-US" sz="1800" dirty="0"/>
          </a:p>
        </p:txBody>
      </p:sp>
      <p:sp>
        <p:nvSpPr>
          <p:cNvPr id="7" name="Finding check circle 1"/>
          <p:cNvSpPr/>
          <p:nvPr/>
        </p:nvSpPr>
        <p:spPr>
          <a:xfrm>
            <a:off x="685800" y="1737360"/>
            <a:ext cx="365760" cy="365760"/>
          </a:xfrm>
          <a:prstGeom prst="ellipse">
            <a:avLst/>
          </a:prstGeom>
          <a:solidFill>
            <a:schemeClr val="accent1"/>
          </a:solidFill>
          <a:ln/>
        </p:spPr>
      </p:sp>
      <p:pic>
        <p:nvPicPr>
          <p:cNvPr id="8" name="Finding check 1" descr="check">    </p:cNvPr>
          <p:cNvPicPr>
            <a:picLocks noChangeAspect="1"/>
          </p:cNvPicPr>
          <p:nvPr/>
        </p:nvPicPr>
        <p:blipFill>
          <a:blip r:embed="rId2"/>
          <a:stretch>
            <a:fillRect/>
          </a:stretch>
        </p:blipFill>
        <p:spPr>
          <a:xfrm>
            <a:off x="777240" y="1828800"/>
            <a:ext cx="182880" cy="182880"/>
          </a:xfrm>
          <a:prstGeom prst="rect">
            <a:avLst/>
          </a:prstGeom>
        </p:spPr>
      </p:pic>
      <p:sp>
        <p:nvSpPr>
          <p:cNvPr id="9" name="Text 5"/>
          <p:cNvSpPr txBox="1"/>
          <p:nvPr/>
        </p:nvSpPr>
        <p:spPr>
          <a:xfrm>
            <a:off x="1188720" y="1691640"/>
            <a:ext cx="3108960" cy="685800"/>
          </a:xfrm>
          <a:prstGeom prst="rect">
            <a:avLst/>
          </a:prstGeom>
          <a:noFill/>
          <a:ln/>
        </p:spPr>
        <p:txBody>
          <a:bodyPr wrap="square" lIns="0" tIns="0" rIns="0" bIns="0" rtlCol="0" anchor="ctr"/>
          <a:lstStyle/>
          <a:p>
            <a:pPr indent="0" marL="0">
              <a:buNone/>
            </a:pPr>
            <a:r>
              <a:rPr lang="en-US" sz="1300" dirty="0">
                <a:solidFill>
                  <a:schemeClr val="tx1"/>
                </a:solidFill>
              </a:rPr>
              <a:t>Gradient Boosting gave the lowest test RMSE: 480.0973 kW (R² = 0.9964).</a:t>
            </a:r>
            <a:endParaRPr lang="en-US" sz="1300" dirty="0"/>
          </a:p>
        </p:txBody>
      </p:sp>
      <p:sp>
        <p:nvSpPr>
          <p:cNvPr id="10" name="Finding check circle 2"/>
          <p:cNvSpPr/>
          <p:nvPr/>
        </p:nvSpPr>
        <p:spPr>
          <a:xfrm>
            <a:off x="685800" y="2514600"/>
            <a:ext cx="365760" cy="365760"/>
          </a:xfrm>
          <a:prstGeom prst="ellipse">
            <a:avLst/>
          </a:prstGeom>
          <a:solidFill>
            <a:schemeClr val="accent1"/>
          </a:solidFill>
          <a:ln/>
        </p:spPr>
      </p:sp>
      <p:pic>
        <p:nvPicPr>
          <p:cNvPr id="11" name="Finding check 2" descr="check">    </p:cNvPr>
          <p:cNvPicPr>
            <a:picLocks noChangeAspect="1"/>
          </p:cNvPicPr>
          <p:nvPr/>
        </p:nvPicPr>
        <p:blipFill>
          <a:blip r:embed="rId3"/>
          <a:stretch>
            <a:fillRect/>
          </a:stretch>
        </p:blipFill>
        <p:spPr>
          <a:xfrm>
            <a:off x="777240" y="2606040"/>
            <a:ext cx="182880" cy="182880"/>
          </a:xfrm>
          <a:prstGeom prst="rect">
            <a:avLst/>
          </a:prstGeom>
        </p:spPr>
      </p:pic>
      <p:sp>
        <p:nvSpPr>
          <p:cNvPr id="12" name="Text 7"/>
          <p:cNvSpPr txBox="1"/>
          <p:nvPr/>
        </p:nvSpPr>
        <p:spPr>
          <a:xfrm>
            <a:off x="1188720" y="2468880"/>
            <a:ext cx="3108960" cy="685800"/>
          </a:xfrm>
          <a:prstGeom prst="rect">
            <a:avLst/>
          </a:prstGeom>
          <a:noFill/>
          <a:ln/>
        </p:spPr>
        <p:txBody>
          <a:bodyPr wrap="square" lIns="0" tIns="0" rIns="0" bIns="0" rtlCol="0" anchor="ctr"/>
          <a:lstStyle/>
          <a:p>
            <a:pPr indent="0" marL="0">
              <a:buNone/>
            </a:pPr>
            <a:r>
              <a:rPr lang="en-US" sz="1300" dirty="0">
                <a:solidFill>
                  <a:schemeClr val="tx1"/>
                </a:solidFill>
              </a:rPr>
              <a:t>Both tree ensembles beat Linear Regression (RMSE 806.3010 kW).</a:t>
            </a:r>
            <a:endParaRPr lang="en-US" sz="1300" dirty="0"/>
          </a:p>
        </p:txBody>
      </p:sp>
      <p:sp>
        <p:nvSpPr>
          <p:cNvPr id="13" name="Finding check circle 3"/>
          <p:cNvSpPr/>
          <p:nvPr/>
        </p:nvSpPr>
        <p:spPr>
          <a:xfrm>
            <a:off x="685800" y="3291840"/>
            <a:ext cx="365760" cy="365760"/>
          </a:xfrm>
          <a:prstGeom prst="ellipse">
            <a:avLst/>
          </a:prstGeom>
          <a:solidFill>
            <a:schemeClr val="accent1"/>
          </a:solidFill>
          <a:ln/>
        </p:spPr>
      </p:sp>
      <p:pic>
        <p:nvPicPr>
          <p:cNvPr id="14" name="Finding check 3" descr="check">    </p:cNvPr>
          <p:cNvPicPr>
            <a:picLocks noChangeAspect="1"/>
          </p:cNvPicPr>
          <p:nvPr/>
        </p:nvPicPr>
        <p:blipFill>
          <a:blip r:embed="rId4"/>
          <a:stretch>
            <a:fillRect/>
          </a:stretch>
        </p:blipFill>
        <p:spPr>
          <a:xfrm>
            <a:off x="777240" y="3383280"/>
            <a:ext cx="182880" cy="182880"/>
          </a:xfrm>
          <a:prstGeom prst="rect">
            <a:avLst/>
          </a:prstGeom>
        </p:spPr>
      </p:pic>
      <p:sp>
        <p:nvSpPr>
          <p:cNvPr id="15" name="Text 9"/>
          <p:cNvSpPr txBox="1"/>
          <p:nvPr/>
        </p:nvSpPr>
        <p:spPr>
          <a:xfrm>
            <a:off x="1188720" y="3246120"/>
            <a:ext cx="3108960" cy="685800"/>
          </a:xfrm>
          <a:prstGeom prst="rect">
            <a:avLst/>
          </a:prstGeom>
          <a:noFill/>
          <a:ln/>
        </p:spPr>
        <p:txBody>
          <a:bodyPr wrap="square" lIns="0" tIns="0" rIns="0" bIns="0" rtlCol="0" anchor="ctr"/>
          <a:lstStyle/>
          <a:p>
            <a:pPr indent="0" marL="0">
              <a:buNone/>
            </a:pPr>
            <a:r>
              <a:rPr lang="en-US" sz="1300" dirty="0">
                <a:solidFill>
                  <a:schemeClr val="tx1"/>
                </a:solidFill>
              </a:rPr>
              <a:t>IRRADIATION dominated feature importance (0.998540).</a:t>
            </a:r>
            <a:endParaRPr lang="en-US" sz="1300" dirty="0"/>
          </a:p>
        </p:txBody>
      </p:sp>
      <p:sp>
        <p:nvSpPr>
          <p:cNvPr id="16" name="Limitations card"/>
          <p:cNvSpPr/>
          <p:nvPr/>
        </p:nvSpPr>
        <p:spPr>
          <a:xfrm>
            <a:off x="4663440" y="1097280"/>
            <a:ext cx="4023360" cy="2926080"/>
          </a:xfrm>
          <a:prstGeom prst="roundRect">
            <a:avLst>
              <a:gd name="adj" fmla="val 3125"/>
            </a:avLst>
          </a:prstGeom>
          <a:solidFill>
            <a:schemeClr val="bg2"/>
          </a:solidFill>
          <a:ln/>
        </p:spPr>
      </p:sp>
      <p:sp>
        <p:nvSpPr>
          <p:cNvPr id="17" name="Text 11"/>
          <p:cNvSpPr txBox="1"/>
          <p:nvPr/>
        </p:nvSpPr>
        <p:spPr>
          <a:xfrm>
            <a:off x="4892040" y="1188720"/>
            <a:ext cx="3566160" cy="365760"/>
          </a:xfrm>
          <a:prstGeom prst="rect">
            <a:avLst/>
          </a:prstGeom>
          <a:noFill/>
          <a:ln/>
        </p:spPr>
        <p:txBody>
          <a:bodyPr wrap="square" lIns="0" tIns="0" rIns="0" bIns="0" rtlCol="0" anchor="t"/>
          <a:lstStyle/>
          <a:p>
            <a:pPr indent="0" marL="0">
              <a:buNone/>
            </a:pPr>
            <a:r>
              <a:rPr lang="en-US" sz="1800" b="1" dirty="0">
                <a:solidFill>
                  <a:schemeClr val="accent2"/>
                </a:solidFill>
              </a:rPr>
              <a:t>Limitations</a:t>
            </a:r>
            <a:endParaRPr lang="en-US" sz="1800" dirty="0"/>
          </a:p>
        </p:txBody>
      </p:sp>
      <p:sp>
        <p:nvSpPr>
          <p:cNvPr id="18" name="Limitation circle 1"/>
          <p:cNvSpPr/>
          <p:nvPr/>
        </p:nvSpPr>
        <p:spPr>
          <a:xfrm>
            <a:off x="4892040" y="1700784"/>
            <a:ext cx="329184" cy="329184"/>
          </a:xfrm>
          <a:prstGeom prst="ellipse">
            <a:avLst/>
          </a:prstGeom>
          <a:solidFill>
            <a:schemeClr val="accent4"/>
          </a:solidFill>
          <a:ln/>
        </p:spPr>
      </p:sp>
      <p:sp>
        <p:nvSpPr>
          <p:cNvPr id="19" name="Text 13"/>
          <p:cNvSpPr txBox="1"/>
          <p:nvPr/>
        </p:nvSpPr>
        <p:spPr>
          <a:xfrm>
            <a:off x="4892040" y="1700784"/>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0" name="Text 14"/>
          <p:cNvSpPr txBox="1"/>
          <p:nvPr/>
        </p:nvSpPr>
        <p:spPr>
          <a:xfrm>
            <a:off x="5349240" y="1645920"/>
            <a:ext cx="3154680" cy="457200"/>
          </a:xfrm>
          <a:prstGeom prst="rect">
            <a:avLst/>
          </a:prstGeom>
          <a:noFill/>
          <a:ln/>
        </p:spPr>
        <p:txBody>
          <a:bodyPr wrap="square" lIns="0" tIns="0" rIns="0" bIns="0" rtlCol="0" anchor="ctr"/>
          <a:lstStyle/>
          <a:p>
            <a:pPr indent="0" marL="0">
              <a:buNone/>
            </a:pPr>
            <a:r>
              <a:rPr lang="en-US" sz="1200" dirty="0">
                <a:solidFill>
                  <a:schemeClr val="tx1"/>
                </a:solidFill>
              </a:rPr>
              <a:t>Short observation period: about 34 days (15 May – 17 Jun 2020).</a:t>
            </a:r>
            <a:endParaRPr lang="en-US" sz="1200" dirty="0"/>
          </a:p>
        </p:txBody>
      </p:sp>
      <p:sp>
        <p:nvSpPr>
          <p:cNvPr id="21" name="Limitation circle 2"/>
          <p:cNvSpPr/>
          <p:nvPr/>
        </p:nvSpPr>
        <p:spPr>
          <a:xfrm>
            <a:off x="4892040" y="2286000"/>
            <a:ext cx="329184" cy="329184"/>
          </a:xfrm>
          <a:prstGeom prst="ellipse">
            <a:avLst/>
          </a:prstGeom>
          <a:solidFill>
            <a:schemeClr val="accent4"/>
          </a:solidFill>
          <a:ln/>
        </p:spPr>
      </p:sp>
      <p:sp>
        <p:nvSpPr>
          <p:cNvPr id="22" name="Text 16"/>
          <p:cNvSpPr txBox="1"/>
          <p:nvPr/>
        </p:nvSpPr>
        <p:spPr>
          <a:xfrm>
            <a:off x="4892040" y="228600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3" name="Text 17"/>
          <p:cNvSpPr txBox="1"/>
          <p:nvPr/>
        </p:nvSpPr>
        <p:spPr>
          <a:xfrm>
            <a:off x="5349240" y="2231136"/>
            <a:ext cx="3154680" cy="457200"/>
          </a:xfrm>
          <a:prstGeom prst="rect">
            <a:avLst/>
          </a:prstGeom>
          <a:noFill/>
          <a:ln/>
        </p:spPr>
        <p:txBody>
          <a:bodyPr wrap="square" lIns="0" tIns="0" rIns="0" bIns="0" rtlCol="0" anchor="ctr"/>
          <a:lstStyle/>
          <a:p>
            <a:pPr indent="0" marL="0">
              <a:buNone/>
            </a:pPr>
            <a:r>
              <a:rPr lang="en-US" sz="1200" dirty="0">
                <a:solidFill>
                  <a:schemeClr val="tx1"/>
                </a:solidFill>
              </a:rPr>
              <a:t>Single-plant scope: Plant 1 only.</a:t>
            </a:r>
            <a:endParaRPr lang="en-US" sz="1200" dirty="0"/>
          </a:p>
        </p:txBody>
      </p:sp>
      <p:sp>
        <p:nvSpPr>
          <p:cNvPr id="24" name="Limitation circle 3"/>
          <p:cNvSpPr/>
          <p:nvPr/>
        </p:nvSpPr>
        <p:spPr>
          <a:xfrm>
            <a:off x="4892040" y="2871216"/>
            <a:ext cx="329184" cy="329184"/>
          </a:xfrm>
          <a:prstGeom prst="ellipse">
            <a:avLst/>
          </a:prstGeom>
          <a:solidFill>
            <a:schemeClr val="accent4"/>
          </a:solidFill>
          <a:ln/>
        </p:spPr>
      </p:sp>
      <p:sp>
        <p:nvSpPr>
          <p:cNvPr id="25" name="Text 19"/>
          <p:cNvSpPr txBox="1"/>
          <p:nvPr/>
        </p:nvSpPr>
        <p:spPr>
          <a:xfrm>
            <a:off x="4892040" y="287121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6" name="Text 20"/>
          <p:cNvSpPr txBox="1"/>
          <p:nvPr/>
        </p:nvSpPr>
        <p:spPr>
          <a:xfrm>
            <a:off x="5349240" y="2816352"/>
            <a:ext cx="3154680" cy="457200"/>
          </a:xfrm>
          <a:prstGeom prst="rect">
            <a:avLst/>
          </a:prstGeom>
          <a:noFill/>
          <a:ln/>
        </p:spPr>
        <p:txBody>
          <a:bodyPr wrap="square" lIns="0" tIns="0" rIns="0" bIns="0" rtlCol="0" anchor="ctr"/>
          <a:lstStyle/>
          <a:p>
            <a:pPr indent="0" marL="0">
              <a:buNone/>
            </a:pPr>
            <a:r>
              <a:rPr lang="en-US" sz="1200" dirty="0">
                <a:solidFill>
                  <a:schemeClr val="tx1"/>
                </a:solidFill>
              </a:rPr>
              <a:t>Same-timestamp estimation with measured weather, not forecasting.</a:t>
            </a:r>
            <a:endParaRPr lang="en-US" sz="1200" dirty="0"/>
          </a:p>
        </p:txBody>
      </p:sp>
      <p:sp>
        <p:nvSpPr>
          <p:cNvPr id="27" name="Limitation circle 4"/>
          <p:cNvSpPr/>
          <p:nvPr/>
        </p:nvSpPr>
        <p:spPr>
          <a:xfrm>
            <a:off x="4892040" y="3456432"/>
            <a:ext cx="329184" cy="329184"/>
          </a:xfrm>
          <a:prstGeom prst="ellipse">
            <a:avLst/>
          </a:prstGeom>
          <a:solidFill>
            <a:schemeClr val="accent4"/>
          </a:solidFill>
          <a:ln/>
        </p:spPr>
      </p:sp>
      <p:sp>
        <p:nvSpPr>
          <p:cNvPr id="28" name="Text 22"/>
          <p:cNvSpPr txBox="1"/>
          <p:nvPr/>
        </p:nvSpPr>
        <p:spPr>
          <a:xfrm>
            <a:off x="4892040" y="345643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9" name="Text 23"/>
          <p:cNvSpPr txBox="1"/>
          <p:nvPr/>
        </p:nvSpPr>
        <p:spPr>
          <a:xfrm>
            <a:off x="5349240" y="3401568"/>
            <a:ext cx="3154680" cy="457200"/>
          </a:xfrm>
          <a:prstGeom prst="rect">
            <a:avLst/>
          </a:prstGeom>
          <a:noFill/>
          <a:ln/>
        </p:spPr>
        <p:txBody>
          <a:bodyPr wrap="square" lIns="0" tIns="0" rIns="0" bIns="0" rtlCol="0" anchor="ctr"/>
          <a:lstStyle/>
          <a:p>
            <a:pPr indent="0" marL="0">
              <a:buNone/>
            </a:pPr>
            <a:r>
              <a:rPr lang="en-US" sz="1200" dirty="0">
                <a:solidFill>
                  <a:schemeClr val="tx1"/>
                </a:solidFill>
              </a:rPr>
              <a:t>Feature importance is not causation.</a:t>
            </a:r>
            <a:endParaRPr lang="en-US" sz="1200" dirty="0"/>
          </a:p>
        </p:txBody>
      </p:sp>
      <p:sp>
        <p:nvSpPr>
          <p:cNvPr id="30" name="Future work banner"/>
          <p:cNvSpPr/>
          <p:nvPr/>
        </p:nvSpPr>
        <p:spPr>
          <a:xfrm>
            <a:off x="457200" y="4160520"/>
            <a:ext cx="8229600" cy="502920"/>
          </a:xfrm>
          <a:prstGeom prst="roundRect">
            <a:avLst>
              <a:gd name="adj" fmla="val 18182"/>
            </a:avLst>
          </a:prstGeom>
          <a:solidFill>
            <a:schemeClr val="tx2"/>
          </a:solidFill>
          <a:ln/>
        </p:spPr>
      </p:sp>
      <p:sp>
        <p:nvSpPr>
          <p:cNvPr id="31" name="Text 25"/>
          <p:cNvSpPr txBox="1"/>
          <p:nvPr/>
        </p:nvSpPr>
        <p:spPr>
          <a:xfrm>
            <a:off x="685800" y="4160520"/>
            <a:ext cx="7772400" cy="502920"/>
          </a:xfrm>
          <a:prstGeom prst="rect">
            <a:avLst/>
          </a:prstGeom>
          <a:noFill/>
          <a:ln/>
        </p:spPr>
        <p:txBody>
          <a:bodyPr wrap="square" lIns="0" tIns="0" rIns="0" bIns="0" rtlCol="0" anchor="ctr"/>
          <a:lstStyle/>
          <a:p>
            <a:pPr indent="0" marL="0">
              <a:buNone/>
            </a:pPr>
            <a:r>
              <a:rPr lang="en-US" sz="1300" b="1" dirty="0">
                <a:solidFill>
                  <a:schemeClr val="bg1"/>
                </a:solidFill>
              </a:rPr>
              <a:t>Next steps: longer, multi-plant data and genuine forecasting using weather forecasts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7498080" cy="640080"/>
          </a:xfrm>
          <a:prstGeom prst="rect">
            <a:avLst/>
          </a:prstGeom>
          <a:noFill/>
          <a:ln/>
        </p:spPr>
        <p:txBody>
          <a:bodyPr wrap="square" lIns="0" tIns="0" rIns="0" bIns="0" rtlCol="0" anchor="ctr"/>
          <a:lstStyle/>
          <a:p>
            <a:pPr algn="l" indent="0" marL="0">
              <a:buNone/>
            </a:pPr>
            <a:r>
              <a:rPr lang="en-US" sz="2800" b="1" dirty="0">
                <a:solidFill>
                  <a:schemeClr val="bg1"/>
                </a:solidFill>
              </a:rPr>
              <a:t>References and Q&amp;A</a:t>
            </a:r>
            <a:endParaRPr lang="en-US" sz="2800" dirty="0"/>
          </a:p>
        </p:txBody>
      </p:sp>
      <p:sp>
        <p:nvSpPr>
          <p:cNvPr id="3" name="Text 1"/>
          <p:cNvSpPr txBox="1"/>
          <p:nvPr/>
        </p:nvSpPr>
        <p:spPr>
          <a:xfrm>
            <a:off x="457200" y="1143000"/>
            <a:ext cx="5212080" cy="3474720"/>
          </a:xfrm>
          <a:prstGeom prst="rect">
            <a:avLst/>
          </a:prstGeom>
          <a:noFill/>
          <a:ln/>
        </p:spPr>
        <p:txBody>
          <a:bodyPr wrap="square" lIns="0" tIns="0" rIns="0" bIns="0" rtlCol="0" anchor="t"/>
          <a:lstStyle/>
          <a:p>
            <a:pPr marL="342900" indent="-342900">
              <a:spcAft>
                <a:spcPts val="700"/>
              </a:spcAft>
              <a:buSzPct val="100000"/>
              <a:buFont typeface="+mj-lt"/>
              <a:buAutoNum type="arabicPeriod" startAt="1"/>
            </a:pPr>
            <a:r>
              <a:rPr lang="en-US" sz="1100" dirty="0">
                <a:solidFill>
                  <a:schemeClr val="bg1"/>
                </a:solidFill>
              </a:rPr>
              <a:t>Kannal, A. Solar Power Generation Data (Plant 1). Kaggle. kaggle.com/datasets/anikannal/solar-power-generation-data</a:t>
            </a:r>
            <a:endParaRPr lang="en-US" sz="1100" dirty="0"/>
          </a:p>
          <a:p>
            <a:pPr marL="342900" indent="-342900">
              <a:spcAft>
                <a:spcPts val="700"/>
              </a:spcAft>
              <a:buSzPct val="100000"/>
              <a:buFont typeface="+mj-lt"/>
              <a:buAutoNum type="arabicPeriod" startAt="1"/>
            </a:pPr>
            <a:r>
              <a:rPr lang="en-US" sz="1100" dirty="0">
                <a:solidFill>
                  <a:schemeClr val="bg1"/>
                </a:solidFill>
              </a:rPr>
              <a:t>Fayyad, U., Piatetsky-Shapiro, G., &amp; Smyth, P. (1996). From data mining to knowledge discovery in databases. AI Magazine, 17(3), 37–54.</a:t>
            </a:r>
            <a:endParaRPr lang="en-US" sz="1100" dirty="0"/>
          </a:p>
          <a:p>
            <a:pPr marL="342900" indent="-342900">
              <a:spcAft>
                <a:spcPts val="700"/>
              </a:spcAft>
              <a:buSzPct val="100000"/>
              <a:buFont typeface="+mj-lt"/>
              <a:buAutoNum type="arabicPeriod" startAt="1"/>
            </a:pPr>
            <a:r>
              <a:rPr lang="en-US" sz="1100" dirty="0">
                <a:solidFill>
                  <a:schemeClr val="bg1"/>
                </a:solidFill>
              </a:rPr>
              <a:t>Pedregosa, F. et al. (2011). Scikit-learn: Machine learning in Python. Journal of Machine Learning Research, 12, 2825–2830.</a:t>
            </a:r>
            <a:endParaRPr lang="en-US" sz="1100" dirty="0"/>
          </a:p>
          <a:p>
            <a:pPr marL="342900" indent="-342900">
              <a:spcAft>
                <a:spcPts val="700"/>
              </a:spcAft>
              <a:buSzPct val="100000"/>
              <a:buFont typeface="+mj-lt"/>
              <a:buAutoNum type="arabicPeriod" startAt="1"/>
            </a:pPr>
            <a:r>
              <a:rPr lang="en-US" sz="1100" dirty="0">
                <a:solidFill>
                  <a:schemeClr val="bg1"/>
                </a:solidFill>
              </a:rPr>
              <a:t>Breiman, L. (2001). Random forests. Machine Learning, 45(1), 5–32.</a:t>
            </a:r>
            <a:endParaRPr lang="en-US" sz="1100" dirty="0"/>
          </a:p>
          <a:p>
            <a:pPr marL="342900" indent="-342900">
              <a:spcAft>
                <a:spcPts val="700"/>
              </a:spcAft>
              <a:buSzPct val="100000"/>
              <a:buFont typeface="+mj-lt"/>
              <a:buAutoNum type="arabicPeriod" startAt="1"/>
            </a:pPr>
            <a:r>
              <a:rPr lang="en-US" sz="1100" dirty="0">
                <a:solidFill>
                  <a:schemeClr val="bg1"/>
                </a:solidFill>
              </a:rPr>
              <a:t>Friedman, J. H. (2001). Greedy function approximation: A gradient boosting machine. Annals of Statistics, 29(5), 1189–1232.</a:t>
            </a:r>
            <a:endParaRPr lang="en-US" sz="1100" dirty="0"/>
          </a:p>
          <a:p>
            <a:pPr marL="342900" indent="-342900">
              <a:spcAft>
                <a:spcPts val="700"/>
              </a:spcAft>
              <a:buSzPct val="100000"/>
              <a:buFont typeface="+mj-lt"/>
              <a:buAutoNum type="arabicPeriod" startAt="1"/>
            </a:pPr>
            <a:r>
              <a:rPr lang="en-US" sz="1100" dirty="0">
                <a:solidFill>
                  <a:schemeClr val="bg1"/>
                </a:solidFill>
              </a:rPr>
              <a:t>Antonanzas, J. et al. (2016). Review of photovoltaic power forecasting. Solar Energy, 136, 78–111.</a:t>
            </a:r>
            <a:endParaRPr lang="en-US" sz="1100" dirty="0"/>
          </a:p>
        </p:txBody>
      </p:sp>
      <p:sp>
        <p:nvSpPr>
          <p:cNvPr id="4" name="Q&amp;A halo"/>
          <p:cNvSpPr/>
          <p:nvPr/>
        </p:nvSpPr>
        <p:spPr>
          <a:xfrm>
            <a:off x="6172200" y="1188720"/>
            <a:ext cx="2468880" cy="2468880"/>
          </a:xfrm>
          <a:prstGeom prst="ellipse">
            <a:avLst/>
          </a:prstGeom>
          <a:solidFill>
            <a:schemeClr val="accent1">
              <a:alpha val="20000"/>
            </a:schemeClr>
          </a:solidFill>
          <a:ln/>
        </p:spPr>
      </p:sp>
      <p:sp>
        <p:nvSpPr>
          <p:cNvPr id="5" name="Question circle"/>
          <p:cNvSpPr/>
          <p:nvPr/>
        </p:nvSpPr>
        <p:spPr>
          <a:xfrm>
            <a:off x="6812280" y="1554480"/>
            <a:ext cx="1188720" cy="1188720"/>
          </a:xfrm>
          <a:prstGeom prst="ellipse">
            <a:avLst/>
          </a:prstGeom>
          <a:solidFill>
            <a:schemeClr val="accent1"/>
          </a:solidFill>
          <a:ln/>
        </p:spPr>
      </p:sp>
      <p:pic>
        <p:nvPicPr>
          <p:cNvPr id="6" name="Question icon" descr="Question">    </p:cNvPr>
          <p:cNvPicPr>
            <a:picLocks noChangeAspect="1"/>
          </p:cNvPicPr>
          <p:nvPr/>
        </p:nvPicPr>
        <p:blipFill>
          <a:blip r:embed="rId1"/>
          <a:stretch>
            <a:fillRect/>
          </a:stretch>
        </p:blipFill>
        <p:spPr>
          <a:xfrm>
            <a:off x="7109460" y="1851660"/>
            <a:ext cx="594360" cy="594360"/>
          </a:xfrm>
          <a:prstGeom prst="rect">
            <a:avLst/>
          </a:prstGeom>
        </p:spPr>
      </p:pic>
      <p:sp>
        <p:nvSpPr>
          <p:cNvPr id="7" name="Text 4"/>
          <p:cNvSpPr txBox="1"/>
          <p:nvPr/>
        </p:nvSpPr>
        <p:spPr>
          <a:xfrm>
            <a:off x="5943600" y="2926080"/>
            <a:ext cx="2926080" cy="548640"/>
          </a:xfrm>
          <a:prstGeom prst="rect">
            <a:avLst/>
          </a:prstGeom>
          <a:noFill/>
          <a:ln/>
        </p:spPr>
        <p:txBody>
          <a:bodyPr wrap="square" lIns="0" tIns="0" rIns="0" bIns="0" rtlCol="0" anchor="t"/>
          <a:lstStyle/>
          <a:p>
            <a:pPr algn="ctr" indent="0" marL="0">
              <a:buNone/>
            </a:pPr>
            <a:r>
              <a:rPr lang="en-US" sz="3000" b="1" dirty="0">
                <a:solidFill>
                  <a:schemeClr val="bg1"/>
                </a:solidFill>
                <a:latin typeface="Cambria" pitchFamily="34" charset="0"/>
                <a:ea typeface="Cambria" pitchFamily="34" charset="-122"/>
                <a:cs typeface="Cambria" pitchFamily="34" charset="-120"/>
              </a:rPr>
              <a:t>Questions?</a:t>
            </a:r>
            <a:endParaRPr lang="en-US" sz="3000" dirty="0"/>
          </a:p>
        </p:txBody>
      </p:sp>
      <p:sp>
        <p:nvSpPr>
          <p:cNvPr id="8" name="Text 5"/>
          <p:cNvSpPr txBox="1"/>
          <p:nvPr/>
        </p:nvSpPr>
        <p:spPr>
          <a:xfrm>
            <a:off x="5943600" y="3520440"/>
            <a:ext cx="2926080" cy="320040"/>
          </a:xfrm>
          <a:prstGeom prst="rect">
            <a:avLst/>
          </a:prstGeom>
          <a:noFill/>
          <a:ln/>
        </p:spPr>
        <p:txBody>
          <a:bodyPr wrap="square" lIns="0" tIns="0" rIns="0" bIns="0" rtlCol="0" anchor="t"/>
          <a:lstStyle/>
          <a:p>
            <a:pPr algn="ctr" indent="0" marL="0">
              <a:buNone/>
            </a:pPr>
            <a:r>
              <a:rPr lang="en-US" sz="1400" dirty="0">
                <a:solidFill>
                  <a:schemeClr val="accent3"/>
                </a:solidFill>
              </a:rPr>
              <a:t>Thank you for listening</a:t>
            </a:r>
            <a:endParaRPr lang="en-US" sz="1400" dirty="0"/>
          </a:p>
        </p:txBody>
      </p:sp>
    </p:spTree>
  </p:cSld>
  <p:clrMapOvr>
    <a:masterClrMapping/>
  </p:clrMapOvr>
</p:sld>
</file>

<file path=ppt/theme/theme1.xml><?xml version="1.0" encoding="utf-8"?>
<a:theme xmlns:a="http://schemas.openxmlformats.org/drawingml/2006/main" name="Solar Green Navy">
  <a:themeElements>
    <a:clrScheme name="Solar Green Navy">
      <a:dk1>
        <a:srgbClr val="10243E"/>
      </a:dk1>
      <a:lt1>
        <a:srgbClr val="FFFFFF"/>
      </a:lt1>
      <a:dk2>
        <a:srgbClr val="0B2545"/>
      </a:dk2>
      <a:lt2>
        <a:srgbClr val="E6F4EC"/>
      </a:lt2>
      <a:accent1>
        <a:srgbClr val="1E8E5A"/>
      </a:accent1>
      <a:accent2>
        <a:srgbClr val="13315C"/>
      </a:accent2>
      <a:accent3>
        <a:srgbClr val="8FD0A9"/>
      </a:accent3>
      <a:accent4>
        <a:srgbClr val="F2B134"/>
      </a:accent4>
      <a:accent5>
        <a:srgbClr val="4A6FA5"/>
      </a:accent5>
      <a:accent6>
        <a:srgbClr val="5F7089"/>
      </a:accent6>
      <a:hlink>
        <a:srgbClr val="1E8E5A"/>
      </a:hlink>
      <a:folHlink>
        <a:srgbClr val="4A6FA5"/>
      </a:folHlink>
    </a:clrScheme>
    <a:fontScheme name="Solar Green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Power Generation Prediction Using Machine Learning with Weather-Based Feature Analysis</dc:title>
  <dc:subject>PptxGenJS Presentation</dc:subject>
  <dc:creator>PptxGenJS</dc:creator>
  <cp:lastModifiedBy>PptxGenJS</cp:lastModifiedBy>
  <cp:revision>1</cp:revision>
  <dcterms:created xsi:type="dcterms:W3CDTF">2026-10-14T05:43:35Z</dcterms:created>
  <dcterms:modified xsi:type="dcterms:W3CDTF">2026-10-14T05:43:35Z</dcterms:modified>
</cp:coreProperties>
</file>